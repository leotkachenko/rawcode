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07" d="100"/>
          <a:sy n="107" d="100"/>
        </p:scale>
        <p:origin x="45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0308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07CFC6-E620-EB3B-8F56-BD5F6FE3FF53}"/>
              </a:ext>
            </a:extLst>
          </p:cNvPr>
          <p:cNvSpPr txBox="1"/>
          <p:nvPr userDrawn="1">
            <p:extLst>
              <p:ext uri="{1162E1C5-73C7-4A58-AE30-91384D911F3F}">
                <p184:classification xmlns:p184="http://schemas.microsoft.com/office/powerpoint/2018/4/main" val="hdr"/>
              </p:ext>
            </p:extLst>
          </p:nvPr>
        </p:nvSpPr>
        <p:spPr>
          <a:xfrm>
            <a:off x="14162088" y="63500"/>
            <a:ext cx="433387" cy="152400"/>
          </a:xfrm>
          <a:prstGeom prst="rect">
            <a:avLst/>
          </a:prstGeom>
        </p:spPr>
        <p:txBody>
          <a:bodyPr horzOverflow="overflow" lIns="0" tIns="0" rIns="0" bIns="0">
            <a:spAutoFit/>
          </a:bodyPr>
          <a:lstStyle/>
          <a:p>
            <a:pPr algn="l"/>
            <a:r>
              <a:rPr lang="en-PL" sz="1000">
                <a:solidFill>
                  <a:srgbClr val="000000"/>
                </a:solidFill>
                <a:latin typeface="Calibri" panose="020F0502020204030204" pitchFamily="34" charset="0"/>
                <a:cs typeface="Calibri" panose="020F0502020204030204" pitchFamily="34" charset="0"/>
              </a:rPr>
              <a:t>Internal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37724" y="2856190"/>
            <a:ext cx="11146274"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Pavlo Holubchykov | Data Scientist Portfolio</a:t>
            </a:r>
            <a:endParaRPr lang="en-US" sz="4400" dirty="0"/>
          </a:p>
        </p:txBody>
      </p:sp>
      <p:sp>
        <p:nvSpPr>
          <p:cNvPr id="3" name="Text 1"/>
          <p:cNvSpPr/>
          <p:nvPr/>
        </p:nvSpPr>
        <p:spPr>
          <a:xfrm>
            <a:off x="837724" y="3919180"/>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Experienced Data Scientist with 5+ years in data science and 6+ years in software development. Specializing in Computer Vision, NLP, Time Series Analysis, and Speech Technologies.</a:t>
            </a:r>
            <a:endParaRPr lang="en-US" sz="1850" dirty="0"/>
          </a:p>
        </p:txBody>
      </p:sp>
      <p:sp>
        <p:nvSpPr>
          <p:cNvPr id="4" name="Shape 2"/>
          <p:cNvSpPr/>
          <p:nvPr/>
        </p:nvSpPr>
        <p:spPr>
          <a:xfrm>
            <a:off x="837724" y="4972288"/>
            <a:ext cx="382905" cy="382905"/>
          </a:xfrm>
          <a:prstGeom prst="roundRect">
            <a:avLst>
              <a:gd name="adj" fmla="val 23878209"/>
            </a:avLst>
          </a:prstGeom>
          <a:noFill/>
          <a:ln w="7620">
            <a:solidFill>
              <a:srgbClr val="FFFFFF"/>
            </a:solidFill>
            <a:prstDash val="solid"/>
          </a:ln>
        </p:spPr>
        <p:txBody>
          <a:bodyPr/>
          <a:lstStyle/>
          <a:p>
            <a:endParaRPr lang="en-PL"/>
          </a:p>
        </p:txBody>
      </p:sp>
      <p:pic>
        <p:nvPicPr>
          <p:cNvPr id="5" name="Image 0" descr="preencoded.png"/>
          <p:cNvPicPr>
            <a:picLocks noChangeAspect="1"/>
          </p:cNvPicPr>
          <p:nvPr/>
        </p:nvPicPr>
        <p:blipFill>
          <a:blip r:embed="rId3"/>
          <a:stretch>
            <a:fillRect/>
          </a:stretch>
        </p:blipFill>
        <p:spPr>
          <a:xfrm>
            <a:off x="845344" y="4979908"/>
            <a:ext cx="367665" cy="367665"/>
          </a:xfrm>
          <a:prstGeom prst="rect">
            <a:avLst/>
          </a:prstGeom>
        </p:spPr>
      </p:pic>
      <p:sp>
        <p:nvSpPr>
          <p:cNvPr id="6" name="Text 3"/>
          <p:cNvSpPr/>
          <p:nvPr/>
        </p:nvSpPr>
        <p:spPr>
          <a:xfrm>
            <a:off x="1340287" y="4954429"/>
            <a:ext cx="2914293" cy="418862"/>
          </a:xfrm>
          <a:prstGeom prst="rect">
            <a:avLst/>
          </a:prstGeom>
          <a:noFill/>
          <a:ln/>
        </p:spPr>
        <p:txBody>
          <a:bodyPr wrap="none" lIns="0" tIns="0" rIns="0" bIns="0" rtlCol="0" anchor="t"/>
          <a:lstStyle/>
          <a:p>
            <a:pPr marL="0" indent="0" algn="l">
              <a:lnSpc>
                <a:spcPts val="3250"/>
              </a:lnSpc>
              <a:buNone/>
            </a:pPr>
            <a:r>
              <a:rPr lang="en-US" sz="2350" b="1" dirty="0">
                <a:solidFill>
                  <a:srgbClr val="272525"/>
                </a:solidFill>
                <a:latin typeface="Source Sans Pro Bold" pitchFamily="34" charset="0"/>
                <a:ea typeface="Source Sans Pro Bold" pitchFamily="34" charset="-122"/>
                <a:cs typeface="Source Sans Pro Bold" pitchFamily="34" charset="-120"/>
              </a:rPr>
              <a:t>by Pavlo Holubchykov</a:t>
            </a:r>
            <a:endParaRPr lang="en-US" sz="2350" dirty="0"/>
          </a:p>
        </p:txBody>
      </p:sp>
      <p:sp>
        <p:nvSpPr>
          <p:cNvPr id="8" name="TextBox 7">
            <a:extLst>
              <a:ext uri="{FF2B5EF4-FFF2-40B4-BE49-F238E27FC236}">
                <a16:creationId xmlns:a16="http://schemas.microsoft.com/office/drawing/2014/main" id="{C466CF16-AE06-0B58-4BCC-5574CF449B5B}"/>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18027" y="847844"/>
            <a:ext cx="7880747" cy="1061323"/>
          </a:xfrm>
          <a:prstGeom prst="rect">
            <a:avLst/>
          </a:prstGeom>
          <a:noFill/>
          <a:ln/>
        </p:spPr>
        <p:txBody>
          <a:bodyPr wrap="square" lIns="0" tIns="0" rIns="0" bIns="0" rtlCol="0" anchor="t"/>
          <a:lstStyle/>
          <a:p>
            <a:pPr marL="0" indent="0" algn="l">
              <a:lnSpc>
                <a:spcPts val="4150"/>
              </a:lnSpc>
              <a:buNone/>
            </a:pPr>
            <a:r>
              <a:rPr lang="en-US" sz="3300" dirty="0">
                <a:solidFill>
                  <a:srgbClr val="000000"/>
                </a:solidFill>
                <a:latin typeface="Source Serif Pro Semi Bold" pitchFamily="34" charset="0"/>
                <a:ea typeface="Source Serif Pro Semi Bold" pitchFamily="34" charset="-122"/>
                <a:cs typeface="Source Serif Pro Semi Bold" pitchFamily="34" charset="-120"/>
              </a:rPr>
              <a:t>Anomaly Detection for Roof Tiles | Wienerberger</a:t>
            </a:r>
            <a:endParaRPr lang="en-US" sz="3300" dirty="0"/>
          </a:p>
        </p:txBody>
      </p:sp>
      <p:sp>
        <p:nvSpPr>
          <p:cNvPr id="4" name="Shape 1"/>
          <p:cNvSpPr/>
          <p:nvPr/>
        </p:nvSpPr>
        <p:spPr>
          <a:xfrm>
            <a:off x="6118027" y="2179796"/>
            <a:ext cx="406003" cy="406003"/>
          </a:xfrm>
          <a:prstGeom prst="roundRect">
            <a:avLst>
              <a:gd name="adj" fmla="val 18669"/>
            </a:avLst>
          </a:prstGeom>
          <a:solidFill>
            <a:srgbClr val="F0D4F7"/>
          </a:solidFill>
          <a:ln w="7620">
            <a:solidFill>
              <a:srgbClr val="D6BADD"/>
            </a:solidFill>
            <a:prstDash val="solid"/>
          </a:ln>
        </p:spPr>
        <p:txBody>
          <a:bodyPr/>
          <a:lstStyle/>
          <a:p>
            <a:endParaRPr lang="en-PL"/>
          </a:p>
        </p:txBody>
      </p:sp>
      <p:sp>
        <p:nvSpPr>
          <p:cNvPr id="5" name="Text 2"/>
          <p:cNvSpPr/>
          <p:nvPr/>
        </p:nvSpPr>
        <p:spPr>
          <a:xfrm>
            <a:off x="6704409" y="2241828"/>
            <a:ext cx="2123123" cy="265271"/>
          </a:xfrm>
          <a:prstGeom prst="rect">
            <a:avLst/>
          </a:prstGeom>
          <a:noFill/>
          <a:ln/>
        </p:spPr>
        <p:txBody>
          <a:bodyPr wrap="none" lIns="0" tIns="0" rIns="0" bIns="0" rtlCol="0" anchor="t"/>
          <a:lstStyle/>
          <a:p>
            <a:pPr marL="0" indent="0" algn="l">
              <a:lnSpc>
                <a:spcPts val="2050"/>
              </a:lnSpc>
              <a:buNone/>
            </a:pPr>
            <a:r>
              <a:rPr lang="en-US" sz="1650" dirty="0">
                <a:solidFill>
                  <a:srgbClr val="272525"/>
                </a:solidFill>
                <a:latin typeface="Source Serif Pro Semi Bold" pitchFamily="34" charset="0"/>
                <a:ea typeface="Source Serif Pro Semi Bold" pitchFamily="34" charset="-122"/>
                <a:cs typeface="Source Serif Pro Semi Bold" pitchFamily="34" charset="-120"/>
              </a:rPr>
              <a:t>Objective</a:t>
            </a:r>
            <a:endParaRPr lang="en-US" sz="1650" dirty="0"/>
          </a:p>
        </p:txBody>
      </p:sp>
      <p:sp>
        <p:nvSpPr>
          <p:cNvPr id="6" name="Text 3"/>
          <p:cNvSpPr/>
          <p:nvPr/>
        </p:nvSpPr>
        <p:spPr>
          <a:xfrm>
            <a:off x="6704409" y="2615327"/>
            <a:ext cx="3241238" cy="1154906"/>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Pro" pitchFamily="34" charset="0"/>
                <a:ea typeface="Source Sans Pro" pitchFamily="34" charset="-122"/>
                <a:cs typeface="Source Sans Pro" pitchFamily="34" charset="-120"/>
              </a:rPr>
              <a:t>Automate detection of broken roof tiles in a high-volume factory setting using limited labeled data, enabling faster and more reliable quality control processes.</a:t>
            </a:r>
            <a:endParaRPr lang="en-US" sz="1400" dirty="0"/>
          </a:p>
        </p:txBody>
      </p:sp>
      <p:sp>
        <p:nvSpPr>
          <p:cNvPr id="7" name="Text 4"/>
          <p:cNvSpPr/>
          <p:nvPr/>
        </p:nvSpPr>
        <p:spPr>
          <a:xfrm>
            <a:off x="6704409" y="3878461"/>
            <a:ext cx="3241238" cy="1154906"/>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Pro" pitchFamily="34" charset="0"/>
                <a:ea typeface="Source Sans Pro" pitchFamily="34" charset="-122"/>
                <a:cs typeface="Source Sans Pro" pitchFamily="34" charset="-120"/>
              </a:rPr>
              <a:t>The goal was to minimize human intervention while maintaining stringent quality standards, reducing the risk of defective products reaching customers.</a:t>
            </a:r>
            <a:endParaRPr lang="en-US" sz="1400" dirty="0"/>
          </a:p>
        </p:txBody>
      </p:sp>
      <p:sp>
        <p:nvSpPr>
          <p:cNvPr id="8" name="Shape 5"/>
          <p:cNvSpPr/>
          <p:nvPr/>
        </p:nvSpPr>
        <p:spPr>
          <a:xfrm>
            <a:off x="10171152" y="2179796"/>
            <a:ext cx="406003" cy="406003"/>
          </a:xfrm>
          <a:prstGeom prst="roundRect">
            <a:avLst>
              <a:gd name="adj" fmla="val 18669"/>
            </a:avLst>
          </a:prstGeom>
          <a:solidFill>
            <a:srgbClr val="F0D4F7"/>
          </a:solidFill>
          <a:ln w="7620">
            <a:solidFill>
              <a:srgbClr val="D6BADD"/>
            </a:solidFill>
            <a:prstDash val="solid"/>
          </a:ln>
        </p:spPr>
        <p:txBody>
          <a:bodyPr/>
          <a:lstStyle/>
          <a:p>
            <a:endParaRPr lang="en-PL"/>
          </a:p>
        </p:txBody>
      </p:sp>
      <p:sp>
        <p:nvSpPr>
          <p:cNvPr id="9" name="Text 6"/>
          <p:cNvSpPr/>
          <p:nvPr/>
        </p:nvSpPr>
        <p:spPr>
          <a:xfrm>
            <a:off x="10757535" y="2241828"/>
            <a:ext cx="2123123" cy="265271"/>
          </a:xfrm>
          <a:prstGeom prst="rect">
            <a:avLst/>
          </a:prstGeom>
          <a:noFill/>
          <a:ln/>
        </p:spPr>
        <p:txBody>
          <a:bodyPr wrap="none" lIns="0" tIns="0" rIns="0" bIns="0" rtlCol="0" anchor="t"/>
          <a:lstStyle/>
          <a:p>
            <a:pPr marL="0" indent="0" algn="l">
              <a:lnSpc>
                <a:spcPts val="2050"/>
              </a:lnSpc>
              <a:buNone/>
            </a:pPr>
            <a:r>
              <a:rPr lang="en-US" sz="1650" dirty="0">
                <a:solidFill>
                  <a:srgbClr val="272525"/>
                </a:solidFill>
                <a:latin typeface="Source Serif Pro Semi Bold" pitchFamily="34" charset="0"/>
                <a:ea typeface="Source Serif Pro Semi Bold" pitchFamily="34" charset="-122"/>
                <a:cs typeface="Source Serif Pro Semi Bold" pitchFamily="34" charset="-120"/>
              </a:rPr>
              <a:t>Role &amp; Tech</a:t>
            </a:r>
            <a:endParaRPr lang="en-US" sz="1650" dirty="0"/>
          </a:p>
        </p:txBody>
      </p:sp>
      <p:sp>
        <p:nvSpPr>
          <p:cNvPr id="10" name="Text 7"/>
          <p:cNvSpPr/>
          <p:nvPr/>
        </p:nvSpPr>
        <p:spPr>
          <a:xfrm>
            <a:off x="10757535" y="2615327"/>
            <a:ext cx="3241238" cy="1443633"/>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Pro" pitchFamily="34" charset="0"/>
                <a:ea typeface="Source Sans Pro" pitchFamily="34" charset="-122"/>
                <a:cs typeface="Source Sans Pro" pitchFamily="34" charset="-120"/>
              </a:rPr>
              <a:t>Served as Data Science Engineer responsible for designing and implementing an unsupervised anomaly detection model leveraging Python and PyTorch frameworks.</a:t>
            </a:r>
            <a:endParaRPr lang="en-US" sz="1400" dirty="0"/>
          </a:p>
        </p:txBody>
      </p:sp>
      <p:sp>
        <p:nvSpPr>
          <p:cNvPr id="11" name="Text 8"/>
          <p:cNvSpPr/>
          <p:nvPr/>
        </p:nvSpPr>
        <p:spPr>
          <a:xfrm>
            <a:off x="10757535" y="4167188"/>
            <a:ext cx="3241238" cy="1154906"/>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Pro" pitchFamily="34" charset="0"/>
                <a:ea typeface="Source Sans Pro" pitchFamily="34" charset="-122"/>
                <a:cs typeface="Source Sans Pro" pitchFamily="34" charset="-120"/>
              </a:rPr>
              <a:t>Utilized Vision Transformers and One-Class SVM techniques to effectively learn tile defect characteristics from sparse labeled datasets, improving model robustness.</a:t>
            </a:r>
            <a:endParaRPr lang="en-US" sz="1400" dirty="0"/>
          </a:p>
        </p:txBody>
      </p:sp>
      <p:sp>
        <p:nvSpPr>
          <p:cNvPr id="12" name="Shape 9"/>
          <p:cNvSpPr/>
          <p:nvPr/>
        </p:nvSpPr>
        <p:spPr>
          <a:xfrm>
            <a:off x="6118027" y="5682972"/>
            <a:ext cx="406003" cy="406003"/>
          </a:xfrm>
          <a:prstGeom prst="roundRect">
            <a:avLst>
              <a:gd name="adj" fmla="val 18669"/>
            </a:avLst>
          </a:prstGeom>
          <a:solidFill>
            <a:srgbClr val="F0D4F7"/>
          </a:solidFill>
          <a:ln w="7620">
            <a:solidFill>
              <a:srgbClr val="D6BADD"/>
            </a:solidFill>
            <a:prstDash val="solid"/>
          </a:ln>
        </p:spPr>
        <p:txBody>
          <a:bodyPr/>
          <a:lstStyle/>
          <a:p>
            <a:endParaRPr lang="en-PL"/>
          </a:p>
        </p:txBody>
      </p:sp>
      <p:sp>
        <p:nvSpPr>
          <p:cNvPr id="13" name="Text 10"/>
          <p:cNvSpPr/>
          <p:nvPr/>
        </p:nvSpPr>
        <p:spPr>
          <a:xfrm>
            <a:off x="6704409" y="5745004"/>
            <a:ext cx="2123123" cy="265271"/>
          </a:xfrm>
          <a:prstGeom prst="rect">
            <a:avLst/>
          </a:prstGeom>
          <a:noFill/>
          <a:ln/>
        </p:spPr>
        <p:txBody>
          <a:bodyPr wrap="none" lIns="0" tIns="0" rIns="0" bIns="0" rtlCol="0" anchor="t"/>
          <a:lstStyle/>
          <a:p>
            <a:pPr marL="0" indent="0" algn="l">
              <a:lnSpc>
                <a:spcPts val="2050"/>
              </a:lnSpc>
              <a:buNone/>
            </a:pPr>
            <a:r>
              <a:rPr lang="en-US" sz="1650" dirty="0">
                <a:solidFill>
                  <a:srgbClr val="272525"/>
                </a:solidFill>
                <a:latin typeface="Source Serif Pro Semi Bold" pitchFamily="34" charset="0"/>
                <a:ea typeface="Source Serif Pro Semi Bold" pitchFamily="34" charset="-122"/>
                <a:cs typeface="Source Serif Pro Semi Bold" pitchFamily="34" charset="-120"/>
              </a:rPr>
              <a:t>Outcome</a:t>
            </a:r>
            <a:endParaRPr lang="en-US" sz="1650" dirty="0"/>
          </a:p>
        </p:txBody>
      </p:sp>
      <p:sp>
        <p:nvSpPr>
          <p:cNvPr id="14" name="Text 11"/>
          <p:cNvSpPr/>
          <p:nvPr/>
        </p:nvSpPr>
        <p:spPr>
          <a:xfrm>
            <a:off x="6704409" y="6118503"/>
            <a:ext cx="7294364" cy="577453"/>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Pro" pitchFamily="34" charset="0"/>
                <a:ea typeface="Source Sans Pro" pitchFamily="34" charset="-122"/>
                <a:cs typeface="Source Sans Pro" pitchFamily="34" charset="-120"/>
              </a:rPr>
              <a:t>Successfully reduced manual inspection times by automating defect detection, leading to enhanced maintenance scheduling and resource allocation.</a:t>
            </a:r>
            <a:endParaRPr lang="en-US" sz="1400" dirty="0"/>
          </a:p>
        </p:txBody>
      </p:sp>
      <p:sp>
        <p:nvSpPr>
          <p:cNvPr id="15" name="Text 12"/>
          <p:cNvSpPr/>
          <p:nvPr/>
        </p:nvSpPr>
        <p:spPr>
          <a:xfrm>
            <a:off x="6704409" y="6804184"/>
            <a:ext cx="7294364" cy="577453"/>
          </a:xfrm>
          <a:prstGeom prst="rect">
            <a:avLst/>
          </a:prstGeom>
          <a:noFill/>
          <a:ln/>
        </p:spPr>
        <p:txBody>
          <a:bodyPr wrap="square" lIns="0" tIns="0" rIns="0" bIns="0" rtlCol="0" anchor="t"/>
          <a:lstStyle/>
          <a:p>
            <a:pPr marL="0" indent="0" algn="l">
              <a:lnSpc>
                <a:spcPts val="2250"/>
              </a:lnSpc>
              <a:buNone/>
            </a:pPr>
            <a:r>
              <a:rPr lang="en-US" sz="1400" dirty="0">
                <a:solidFill>
                  <a:srgbClr val="272525"/>
                </a:solidFill>
                <a:latin typeface="Source Sans Pro" pitchFamily="34" charset="0"/>
                <a:ea typeface="Source Sans Pro" pitchFamily="34" charset="-122"/>
                <a:cs typeface="Source Sans Pro" pitchFamily="34" charset="-120"/>
              </a:rPr>
              <a:t>Achieved high detection accuracy, significantly decreasing false positives and negatives, which improves overall product reliability and customer satisfaction.</a:t>
            </a:r>
            <a:endParaRPr lang="en-US" sz="1400" dirty="0"/>
          </a:p>
        </p:txBody>
      </p:sp>
      <p:sp>
        <p:nvSpPr>
          <p:cNvPr id="16" name="TextBox 15">
            <a:extLst>
              <a:ext uri="{FF2B5EF4-FFF2-40B4-BE49-F238E27FC236}">
                <a16:creationId xmlns:a16="http://schemas.microsoft.com/office/drawing/2014/main" id="{8F14AAF9-FBF3-C555-65F5-F25E49D1FC44}"/>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76645" y="966073"/>
            <a:ext cx="7062311" cy="652701"/>
          </a:xfrm>
          <a:prstGeom prst="rect">
            <a:avLst/>
          </a:prstGeom>
          <a:noFill/>
          <a:ln/>
        </p:spPr>
        <p:txBody>
          <a:bodyPr wrap="none" lIns="0" tIns="0" rIns="0" bIns="0" rtlCol="0" anchor="t"/>
          <a:lstStyle/>
          <a:p>
            <a:pPr marL="0" indent="0" algn="l">
              <a:lnSpc>
                <a:spcPts val="5100"/>
              </a:lnSpc>
              <a:buNone/>
            </a:pPr>
            <a:r>
              <a:rPr lang="en-US" sz="4100" dirty="0">
                <a:solidFill>
                  <a:srgbClr val="000000"/>
                </a:solidFill>
                <a:latin typeface="Source Serif Pro Semi Bold" pitchFamily="34" charset="0"/>
                <a:ea typeface="Source Serif Pro Semi Bold" pitchFamily="34" charset="-122"/>
                <a:cs typeface="Source Serif Pro Semi Bold" pitchFamily="34" charset="-120"/>
              </a:rPr>
              <a:t>Video Analysis Solution | MTV</a:t>
            </a:r>
            <a:endParaRPr lang="en-US" sz="4100" dirty="0"/>
          </a:p>
        </p:txBody>
      </p:sp>
      <p:sp>
        <p:nvSpPr>
          <p:cNvPr id="3" name="Shape 1"/>
          <p:cNvSpPr/>
          <p:nvPr/>
        </p:nvSpPr>
        <p:spPr>
          <a:xfrm>
            <a:off x="776645" y="1951553"/>
            <a:ext cx="4211122" cy="5311973"/>
          </a:xfrm>
          <a:prstGeom prst="roundRect">
            <a:avLst>
              <a:gd name="adj" fmla="val 2213"/>
            </a:avLst>
          </a:prstGeom>
          <a:solidFill>
            <a:srgbClr val="F0D4F7"/>
          </a:solidFill>
          <a:ln w="7620">
            <a:solidFill>
              <a:srgbClr val="D6BADD"/>
            </a:solidFill>
            <a:prstDash val="solid"/>
          </a:ln>
        </p:spPr>
        <p:txBody>
          <a:bodyPr/>
          <a:lstStyle/>
          <a:p>
            <a:endParaRPr lang="en-PL"/>
          </a:p>
        </p:txBody>
      </p:sp>
      <p:sp>
        <p:nvSpPr>
          <p:cNvPr id="4" name="Text 2"/>
          <p:cNvSpPr/>
          <p:nvPr/>
        </p:nvSpPr>
        <p:spPr>
          <a:xfrm>
            <a:off x="1006078" y="2180987"/>
            <a:ext cx="2610683" cy="326350"/>
          </a:xfrm>
          <a:prstGeom prst="rect">
            <a:avLst/>
          </a:prstGeom>
          <a:noFill/>
          <a:ln/>
        </p:spPr>
        <p:txBody>
          <a:bodyPr wrap="none" lIns="0" tIns="0" rIns="0" bIns="0" rtlCol="0" anchor="t"/>
          <a:lstStyle/>
          <a:p>
            <a:pPr marL="0" indent="0" algn="l">
              <a:lnSpc>
                <a:spcPts val="2550"/>
              </a:lnSpc>
              <a:buNone/>
            </a:pPr>
            <a:r>
              <a:rPr lang="en-US" sz="2050" dirty="0">
                <a:solidFill>
                  <a:srgbClr val="272525"/>
                </a:solidFill>
                <a:latin typeface="Source Serif Pro Semi Bold" pitchFamily="34" charset="0"/>
                <a:ea typeface="Source Serif Pro Semi Bold" pitchFamily="34" charset="-122"/>
                <a:cs typeface="Source Serif Pro Semi Bold" pitchFamily="34" charset="-120"/>
              </a:rPr>
              <a:t>Goal</a:t>
            </a:r>
            <a:endParaRPr lang="en-US" sz="2050" dirty="0"/>
          </a:p>
        </p:txBody>
      </p:sp>
      <p:sp>
        <p:nvSpPr>
          <p:cNvPr id="5" name="Text 3"/>
          <p:cNvSpPr/>
          <p:nvPr/>
        </p:nvSpPr>
        <p:spPr>
          <a:xfrm>
            <a:off x="1006078" y="2640449"/>
            <a:ext cx="3752255" cy="2485311"/>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Create a robust prototype designed to transcribe, summarize, and analyze large volumes of video content automatically. The solution aims to streamline and accelerate the process of extracting meaningful insights from multimedia data.</a:t>
            </a:r>
            <a:endParaRPr lang="en-US" sz="1700" dirty="0"/>
          </a:p>
        </p:txBody>
      </p:sp>
      <p:sp>
        <p:nvSpPr>
          <p:cNvPr id="6" name="Text 4"/>
          <p:cNvSpPr/>
          <p:nvPr/>
        </p:nvSpPr>
        <p:spPr>
          <a:xfrm>
            <a:off x="1006078" y="5258872"/>
            <a:ext cx="3752255" cy="1775222"/>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This prototype serves to enhance content accessibility and improve the efficiency of metadata generation, enabling better content management and retrieval.</a:t>
            </a:r>
            <a:endParaRPr lang="en-US" sz="1700" dirty="0"/>
          </a:p>
        </p:txBody>
      </p:sp>
      <p:sp>
        <p:nvSpPr>
          <p:cNvPr id="7" name="Shape 5"/>
          <p:cNvSpPr/>
          <p:nvPr/>
        </p:nvSpPr>
        <p:spPr>
          <a:xfrm>
            <a:off x="5209580" y="1951553"/>
            <a:ext cx="4211122" cy="5311973"/>
          </a:xfrm>
          <a:prstGeom prst="roundRect">
            <a:avLst>
              <a:gd name="adj" fmla="val 2213"/>
            </a:avLst>
          </a:prstGeom>
          <a:solidFill>
            <a:srgbClr val="F0D4F7"/>
          </a:solidFill>
          <a:ln w="7620">
            <a:solidFill>
              <a:srgbClr val="D6BADD"/>
            </a:solidFill>
            <a:prstDash val="solid"/>
          </a:ln>
        </p:spPr>
        <p:txBody>
          <a:bodyPr/>
          <a:lstStyle/>
          <a:p>
            <a:endParaRPr lang="en-PL"/>
          </a:p>
        </p:txBody>
      </p:sp>
      <p:sp>
        <p:nvSpPr>
          <p:cNvPr id="8" name="Text 6"/>
          <p:cNvSpPr/>
          <p:nvPr/>
        </p:nvSpPr>
        <p:spPr>
          <a:xfrm>
            <a:off x="5439013" y="2180987"/>
            <a:ext cx="2610683" cy="326350"/>
          </a:xfrm>
          <a:prstGeom prst="rect">
            <a:avLst/>
          </a:prstGeom>
          <a:noFill/>
          <a:ln/>
        </p:spPr>
        <p:txBody>
          <a:bodyPr wrap="none" lIns="0" tIns="0" rIns="0" bIns="0" rtlCol="0" anchor="t"/>
          <a:lstStyle/>
          <a:p>
            <a:pPr marL="0" indent="0" algn="l">
              <a:lnSpc>
                <a:spcPts val="2550"/>
              </a:lnSpc>
              <a:buNone/>
            </a:pPr>
            <a:r>
              <a:rPr lang="en-US" sz="2050" dirty="0">
                <a:solidFill>
                  <a:srgbClr val="272525"/>
                </a:solidFill>
                <a:latin typeface="Source Serif Pro Semi Bold" pitchFamily="34" charset="0"/>
                <a:ea typeface="Source Serif Pro Semi Bold" pitchFamily="34" charset="-122"/>
                <a:cs typeface="Source Serif Pro Semi Bold" pitchFamily="34" charset="-120"/>
              </a:rPr>
              <a:t>Tools</a:t>
            </a:r>
            <a:endParaRPr lang="en-US" sz="2050" dirty="0"/>
          </a:p>
        </p:txBody>
      </p:sp>
      <p:sp>
        <p:nvSpPr>
          <p:cNvPr id="9" name="Text 7"/>
          <p:cNvSpPr/>
          <p:nvPr/>
        </p:nvSpPr>
        <p:spPr>
          <a:xfrm>
            <a:off x="5439013" y="2640449"/>
            <a:ext cx="3752255" cy="2485311"/>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Utilized Python as the primary programming language alongside WhisperX for advanced speech recognition capabilities. Integrated ChatGPT API to perform natural language summarization and contextual analysis of transcribed text.</a:t>
            </a:r>
            <a:endParaRPr lang="en-US" sz="1700" dirty="0"/>
          </a:p>
        </p:txBody>
      </p:sp>
      <p:sp>
        <p:nvSpPr>
          <p:cNvPr id="10" name="Text 8"/>
          <p:cNvSpPr/>
          <p:nvPr/>
        </p:nvSpPr>
        <p:spPr>
          <a:xfrm>
            <a:off x="5439013" y="5258872"/>
            <a:ext cx="3752255" cy="1775222"/>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Implemented FastAPI to build a scalable backend API, with deployment on Azure cloud infrastructure using Docker containers for smooth distribution and maintenance.</a:t>
            </a:r>
            <a:endParaRPr lang="en-US" sz="1700" dirty="0"/>
          </a:p>
        </p:txBody>
      </p:sp>
      <p:sp>
        <p:nvSpPr>
          <p:cNvPr id="11" name="Shape 9"/>
          <p:cNvSpPr/>
          <p:nvPr/>
        </p:nvSpPr>
        <p:spPr>
          <a:xfrm>
            <a:off x="9642515" y="1951553"/>
            <a:ext cx="4211122" cy="5311973"/>
          </a:xfrm>
          <a:prstGeom prst="roundRect">
            <a:avLst>
              <a:gd name="adj" fmla="val 2213"/>
            </a:avLst>
          </a:prstGeom>
          <a:solidFill>
            <a:srgbClr val="F0D4F7"/>
          </a:solidFill>
          <a:ln w="7620">
            <a:solidFill>
              <a:srgbClr val="D6BADD"/>
            </a:solidFill>
            <a:prstDash val="solid"/>
          </a:ln>
        </p:spPr>
        <p:txBody>
          <a:bodyPr/>
          <a:lstStyle/>
          <a:p>
            <a:endParaRPr lang="en-PL"/>
          </a:p>
        </p:txBody>
      </p:sp>
      <p:sp>
        <p:nvSpPr>
          <p:cNvPr id="12" name="Text 10"/>
          <p:cNvSpPr/>
          <p:nvPr/>
        </p:nvSpPr>
        <p:spPr>
          <a:xfrm>
            <a:off x="9871948" y="2180987"/>
            <a:ext cx="2610683" cy="326350"/>
          </a:xfrm>
          <a:prstGeom prst="rect">
            <a:avLst/>
          </a:prstGeom>
          <a:noFill/>
          <a:ln/>
        </p:spPr>
        <p:txBody>
          <a:bodyPr wrap="none" lIns="0" tIns="0" rIns="0" bIns="0" rtlCol="0" anchor="t"/>
          <a:lstStyle/>
          <a:p>
            <a:pPr marL="0" indent="0" algn="l">
              <a:lnSpc>
                <a:spcPts val="2550"/>
              </a:lnSpc>
              <a:buNone/>
            </a:pPr>
            <a:r>
              <a:rPr lang="en-US" sz="2050" dirty="0">
                <a:solidFill>
                  <a:srgbClr val="272525"/>
                </a:solidFill>
                <a:latin typeface="Source Serif Pro Semi Bold" pitchFamily="34" charset="0"/>
                <a:ea typeface="Source Serif Pro Semi Bold" pitchFamily="34" charset="-122"/>
                <a:cs typeface="Source Serif Pro Semi Bold" pitchFamily="34" charset="-120"/>
              </a:rPr>
              <a:t>Impact</a:t>
            </a:r>
            <a:endParaRPr lang="en-US" sz="2050" dirty="0"/>
          </a:p>
        </p:txBody>
      </p:sp>
      <p:sp>
        <p:nvSpPr>
          <p:cNvPr id="13" name="Text 11"/>
          <p:cNvSpPr/>
          <p:nvPr/>
        </p:nvSpPr>
        <p:spPr>
          <a:xfrm>
            <a:off x="9871948" y="2640449"/>
            <a:ext cx="3752255" cy="1775222"/>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The solution enables automated generation of insights and metadata from video content, significantly reducing manual labor and time needed for analysis.</a:t>
            </a:r>
            <a:endParaRPr lang="en-US" sz="1700" dirty="0"/>
          </a:p>
        </p:txBody>
      </p:sp>
      <p:sp>
        <p:nvSpPr>
          <p:cNvPr id="14" name="Text 12"/>
          <p:cNvSpPr/>
          <p:nvPr/>
        </p:nvSpPr>
        <p:spPr>
          <a:xfrm>
            <a:off x="9871948" y="4548783"/>
            <a:ext cx="3752255" cy="2485311"/>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This advancement simplifies video content processing workflows for MTV, allowing for faster decision-making, improved content recommendation accuracy, and enhanced viewer engagement with more relevant content offerings.</a:t>
            </a:r>
            <a:endParaRPr lang="en-US" sz="1700" dirty="0"/>
          </a:p>
        </p:txBody>
      </p:sp>
      <p:sp>
        <p:nvSpPr>
          <p:cNvPr id="15" name="TextBox 14">
            <a:extLst>
              <a:ext uri="{FF2B5EF4-FFF2-40B4-BE49-F238E27FC236}">
                <a16:creationId xmlns:a16="http://schemas.microsoft.com/office/drawing/2014/main" id="{7E59B614-63F7-7AD5-1ABD-5E8BE9AE068C}"/>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7702" y="955358"/>
            <a:ext cx="10523577" cy="561023"/>
          </a:xfrm>
          <a:prstGeom prst="rect">
            <a:avLst/>
          </a:prstGeom>
          <a:noFill/>
          <a:ln/>
        </p:spPr>
        <p:txBody>
          <a:bodyPr wrap="none" lIns="0" tIns="0" rIns="0" bIns="0" rtlCol="0" anchor="t"/>
          <a:lstStyle/>
          <a:p>
            <a:pPr marL="0" indent="0" algn="l">
              <a:lnSpc>
                <a:spcPts val="4400"/>
              </a:lnSpc>
              <a:buNone/>
            </a:pPr>
            <a:r>
              <a:rPr lang="en-US" sz="3500" dirty="0">
                <a:solidFill>
                  <a:srgbClr val="000000"/>
                </a:solidFill>
                <a:latin typeface="Source Serif Pro Semi Bold" pitchFamily="34" charset="0"/>
                <a:ea typeface="Source Serif Pro Semi Bold" pitchFamily="34" charset="-122"/>
                <a:cs typeface="Source Serif Pro Semi Bold" pitchFamily="34" charset="-120"/>
              </a:rPr>
              <a:t>Real-Time People Monitoring &amp; Queue Management</a:t>
            </a:r>
            <a:endParaRPr lang="en-US" sz="3500" dirty="0"/>
          </a:p>
        </p:txBody>
      </p:sp>
      <p:sp>
        <p:nvSpPr>
          <p:cNvPr id="3" name="Text 1"/>
          <p:cNvSpPr/>
          <p:nvPr/>
        </p:nvSpPr>
        <p:spPr>
          <a:xfrm>
            <a:off x="667702" y="1897856"/>
            <a:ext cx="13294995" cy="915472"/>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Pro" pitchFamily="34" charset="0"/>
                <a:ea typeface="Source Sans Pro" pitchFamily="34" charset="-122"/>
                <a:cs typeface="Source Sans Pro" pitchFamily="34" charset="-120"/>
              </a:rPr>
              <a:t>This project developed an advanced system for tracking people in a hall or public space in real-time, enabling precise monitoring of crowd dynamics. The system distinguishes between general presence in the area and individuals specifically standing in queues, using a zone-based detection approach that allows for granular insights into crowd behavior.</a:t>
            </a:r>
            <a:endParaRPr lang="en-US" sz="1500" dirty="0"/>
          </a:p>
        </p:txBody>
      </p:sp>
      <p:sp>
        <p:nvSpPr>
          <p:cNvPr id="4" name="Text 2"/>
          <p:cNvSpPr/>
          <p:nvPr/>
        </p:nvSpPr>
        <p:spPr>
          <a:xfrm>
            <a:off x="667702" y="3027878"/>
            <a:ext cx="13294995" cy="915472"/>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Pro" pitchFamily="34" charset="0"/>
                <a:ea typeface="Source Sans Pro" pitchFamily="34" charset="-122"/>
                <a:cs typeface="Source Sans Pro" pitchFamily="34" charset="-120"/>
              </a:rPr>
              <a:t>Built using Python, OpenCV, and the cutting-edge YOLO object detection framework, the solution ensures highly accurate counting and identification of individuals even in complex and dynamic environments. By providing real-time crowd insights, the system supports improved operational efficiency and helps optimize staff deployment to better manage service flows and reduce wait times.</a:t>
            </a:r>
            <a:endParaRPr lang="en-US" sz="1500" dirty="0"/>
          </a:p>
        </p:txBody>
      </p:sp>
      <p:sp>
        <p:nvSpPr>
          <p:cNvPr id="5" name="Text 3"/>
          <p:cNvSpPr/>
          <p:nvPr/>
        </p:nvSpPr>
        <p:spPr>
          <a:xfrm>
            <a:off x="667702" y="4157901"/>
            <a:ext cx="13294995" cy="610314"/>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Pro" pitchFamily="34" charset="0"/>
                <a:ea typeface="Source Sans Pro" pitchFamily="34" charset="-122"/>
                <a:cs typeface="Source Sans Pro" pitchFamily="34" charset="-120"/>
              </a:rPr>
              <a:t>The technology not only facilitates immediate responses to changing crowd conditions but also offers valuable data for long-term analysis and planning. It supports enhanced customer experience by minimizing overcrowding and enabling proactive queue management strategies.</a:t>
            </a:r>
            <a:endParaRPr lang="en-US" sz="1500" dirty="0"/>
          </a:p>
        </p:txBody>
      </p:sp>
      <p:sp>
        <p:nvSpPr>
          <p:cNvPr id="6" name="Shape 4"/>
          <p:cNvSpPr/>
          <p:nvPr/>
        </p:nvSpPr>
        <p:spPr>
          <a:xfrm>
            <a:off x="667702" y="4982766"/>
            <a:ext cx="429220" cy="429220"/>
          </a:xfrm>
          <a:prstGeom prst="roundRect">
            <a:avLst>
              <a:gd name="adj" fmla="val 18668"/>
            </a:avLst>
          </a:prstGeom>
          <a:solidFill>
            <a:srgbClr val="F0D4F7"/>
          </a:solidFill>
          <a:ln w="7620">
            <a:solidFill>
              <a:srgbClr val="D6BADD"/>
            </a:solidFill>
            <a:prstDash val="solid"/>
          </a:ln>
        </p:spPr>
        <p:txBody>
          <a:bodyPr/>
          <a:lstStyle/>
          <a:p>
            <a:endParaRPr lang="en-PL"/>
          </a:p>
        </p:txBody>
      </p:sp>
      <p:sp>
        <p:nvSpPr>
          <p:cNvPr id="7" name="Text 5"/>
          <p:cNvSpPr/>
          <p:nvPr/>
        </p:nvSpPr>
        <p:spPr>
          <a:xfrm>
            <a:off x="1287661" y="5048250"/>
            <a:ext cx="2244328" cy="280511"/>
          </a:xfrm>
          <a:prstGeom prst="rect">
            <a:avLst/>
          </a:prstGeom>
          <a:noFill/>
          <a:ln/>
        </p:spPr>
        <p:txBody>
          <a:bodyPr wrap="none" lIns="0" tIns="0" rIns="0" bIns="0" rtlCol="0" anchor="t"/>
          <a:lstStyle/>
          <a:p>
            <a:pPr marL="0" indent="0" algn="l">
              <a:lnSpc>
                <a:spcPts val="2200"/>
              </a:lnSpc>
              <a:buNone/>
            </a:pPr>
            <a:r>
              <a:rPr lang="en-US" sz="1750" dirty="0">
                <a:solidFill>
                  <a:srgbClr val="272525"/>
                </a:solidFill>
                <a:latin typeface="Source Serif Pro Semi Bold" pitchFamily="34" charset="0"/>
                <a:ea typeface="Source Serif Pro Semi Bold" pitchFamily="34" charset="-122"/>
                <a:cs typeface="Source Serif Pro Semi Bold" pitchFamily="34" charset="-120"/>
              </a:rPr>
              <a:t>Zone-Based Detection</a:t>
            </a:r>
            <a:endParaRPr lang="en-US" sz="1750" dirty="0"/>
          </a:p>
        </p:txBody>
      </p:sp>
      <p:sp>
        <p:nvSpPr>
          <p:cNvPr id="8" name="Text 6"/>
          <p:cNvSpPr/>
          <p:nvPr/>
        </p:nvSpPr>
        <p:spPr>
          <a:xfrm>
            <a:off x="1287661" y="5443180"/>
            <a:ext cx="3652838" cy="1830943"/>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Pro" pitchFamily="34" charset="0"/>
                <a:ea typeface="Source Sans Pro" pitchFamily="34" charset="-122"/>
                <a:cs typeface="Source Sans Pro" pitchFamily="34" charset="-120"/>
              </a:rPr>
              <a:t>Defines specific, configurable areas within the monitored space to separate queues from general occupancy. This targeted monitoring allows for focused analysis on queue lengths and wait times, critical for operational decisions.</a:t>
            </a:r>
            <a:endParaRPr lang="en-US" sz="1500" dirty="0"/>
          </a:p>
        </p:txBody>
      </p:sp>
      <p:sp>
        <p:nvSpPr>
          <p:cNvPr id="9" name="Shape 7"/>
          <p:cNvSpPr/>
          <p:nvPr/>
        </p:nvSpPr>
        <p:spPr>
          <a:xfrm>
            <a:off x="5178862" y="4982766"/>
            <a:ext cx="429220" cy="429220"/>
          </a:xfrm>
          <a:prstGeom prst="roundRect">
            <a:avLst>
              <a:gd name="adj" fmla="val 18668"/>
            </a:avLst>
          </a:prstGeom>
          <a:solidFill>
            <a:srgbClr val="F0D4F7"/>
          </a:solidFill>
          <a:ln w="7620">
            <a:solidFill>
              <a:srgbClr val="D6BADD"/>
            </a:solidFill>
            <a:prstDash val="solid"/>
          </a:ln>
        </p:spPr>
        <p:txBody>
          <a:bodyPr/>
          <a:lstStyle/>
          <a:p>
            <a:endParaRPr lang="en-PL"/>
          </a:p>
        </p:txBody>
      </p:sp>
      <p:sp>
        <p:nvSpPr>
          <p:cNvPr id="10" name="Text 8"/>
          <p:cNvSpPr/>
          <p:nvPr/>
        </p:nvSpPr>
        <p:spPr>
          <a:xfrm>
            <a:off x="5798820" y="5048250"/>
            <a:ext cx="2738438" cy="280511"/>
          </a:xfrm>
          <a:prstGeom prst="rect">
            <a:avLst/>
          </a:prstGeom>
          <a:noFill/>
          <a:ln/>
        </p:spPr>
        <p:txBody>
          <a:bodyPr wrap="none" lIns="0" tIns="0" rIns="0" bIns="0" rtlCol="0" anchor="t"/>
          <a:lstStyle/>
          <a:p>
            <a:pPr marL="0" indent="0" algn="l">
              <a:lnSpc>
                <a:spcPts val="2200"/>
              </a:lnSpc>
              <a:buNone/>
            </a:pPr>
            <a:r>
              <a:rPr lang="en-US" sz="1750" dirty="0">
                <a:solidFill>
                  <a:srgbClr val="272525"/>
                </a:solidFill>
                <a:latin typeface="Source Serif Pro Semi Bold" pitchFamily="34" charset="0"/>
                <a:ea typeface="Source Serif Pro Semi Bold" pitchFamily="34" charset="-122"/>
                <a:cs typeface="Source Serif Pro Semi Bold" pitchFamily="34" charset="-120"/>
              </a:rPr>
              <a:t>Advanced Object Detection</a:t>
            </a:r>
            <a:endParaRPr lang="en-US" sz="1750" dirty="0"/>
          </a:p>
        </p:txBody>
      </p:sp>
      <p:sp>
        <p:nvSpPr>
          <p:cNvPr id="11" name="Text 9"/>
          <p:cNvSpPr/>
          <p:nvPr/>
        </p:nvSpPr>
        <p:spPr>
          <a:xfrm>
            <a:off x="5798820" y="5443180"/>
            <a:ext cx="3652838" cy="1830943"/>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Pro" pitchFamily="34" charset="0"/>
                <a:ea typeface="Source Sans Pro" pitchFamily="34" charset="-122"/>
                <a:cs typeface="Source Sans Pro" pitchFamily="34" charset="-120"/>
              </a:rPr>
              <a:t>Utilizes the YOLO algorithm to identify and count people quickly and accurately, even in challenging conditions such as varying lighting and crowded scenes. This ensures reliable data collection on crowd density and movement patterns.</a:t>
            </a:r>
            <a:endParaRPr lang="en-US" sz="1500" dirty="0"/>
          </a:p>
        </p:txBody>
      </p:sp>
      <p:sp>
        <p:nvSpPr>
          <p:cNvPr id="12" name="Shape 10"/>
          <p:cNvSpPr/>
          <p:nvPr/>
        </p:nvSpPr>
        <p:spPr>
          <a:xfrm>
            <a:off x="9690021" y="4982766"/>
            <a:ext cx="429220" cy="429220"/>
          </a:xfrm>
          <a:prstGeom prst="roundRect">
            <a:avLst>
              <a:gd name="adj" fmla="val 18668"/>
            </a:avLst>
          </a:prstGeom>
          <a:solidFill>
            <a:srgbClr val="F0D4F7"/>
          </a:solidFill>
          <a:ln w="7620">
            <a:solidFill>
              <a:srgbClr val="D6BADD"/>
            </a:solidFill>
            <a:prstDash val="solid"/>
          </a:ln>
        </p:spPr>
        <p:txBody>
          <a:bodyPr/>
          <a:lstStyle/>
          <a:p>
            <a:endParaRPr lang="en-PL"/>
          </a:p>
        </p:txBody>
      </p:sp>
      <p:sp>
        <p:nvSpPr>
          <p:cNvPr id="13" name="Text 11"/>
          <p:cNvSpPr/>
          <p:nvPr/>
        </p:nvSpPr>
        <p:spPr>
          <a:xfrm>
            <a:off x="10309979" y="5048250"/>
            <a:ext cx="2244328" cy="280511"/>
          </a:xfrm>
          <a:prstGeom prst="rect">
            <a:avLst/>
          </a:prstGeom>
          <a:noFill/>
          <a:ln/>
        </p:spPr>
        <p:txBody>
          <a:bodyPr wrap="none" lIns="0" tIns="0" rIns="0" bIns="0" rtlCol="0" anchor="t"/>
          <a:lstStyle/>
          <a:p>
            <a:pPr marL="0" indent="0" algn="l">
              <a:lnSpc>
                <a:spcPts val="2200"/>
              </a:lnSpc>
              <a:buNone/>
            </a:pPr>
            <a:r>
              <a:rPr lang="en-US" sz="1750" dirty="0">
                <a:solidFill>
                  <a:srgbClr val="272525"/>
                </a:solidFill>
                <a:latin typeface="Source Serif Pro Semi Bold" pitchFamily="34" charset="0"/>
                <a:ea typeface="Source Serif Pro Semi Bold" pitchFamily="34" charset="-122"/>
                <a:cs typeface="Source Serif Pro Semi Bold" pitchFamily="34" charset="-120"/>
              </a:rPr>
              <a:t>Operational Impact</a:t>
            </a:r>
            <a:endParaRPr lang="en-US" sz="1750" dirty="0"/>
          </a:p>
        </p:txBody>
      </p:sp>
      <p:sp>
        <p:nvSpPr>
          <p:cNvPr id="14" name="Text 12"/>
          <p:cNvSpPr/>
          <p:nvPr/>
        </p:nvSpPr>
        <p:spPr>
          <a:xfrm>
            <a:off x="10309979" y="5443180"/>
            <a:ext cx="3652838" cy="1830943"/>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Source Sans Pro" pitchFamily="34" charset="0"/>
                <a:ea typeface="Source Sans Pro" pitchFamily="34" charset="-122"/>
                <a:cs typeface="Source Sans Pro" pitchFamily="34" charset="-120"/>
              </a:rPr>
              <a:t>Provides actionable real-time data that enhances customer service by enabling staff to allocate resources efficiently. This leads to reduced wait times, better crowd management, and an overall improved experience for visitors.</a:t>
            </a:r>
            <a:endParaRPr lang="en-US" sz="1500" dirty="0"/>
          </a:p>
        </p:txBody>
      </p:sp>
      <p:sp>
        <p:nvSpPr>
          <p:cNvPr id="15" name="TextBox 14">
            <a:extLst>
              <a:ext uri="{FF2B5EF4-FFF2-40B4-BE49-F238E27FC236}">
                <a16:creationId xmlns:a16="http://schemas.microsoft.com/office/drawing/2014/main" id="{02577399-88E9-278E-B97B-51F819791AA4}"/>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70533" y="773192"/>
            <a:ext cx="7775734" cy="1149667"/>
          </a:xfrm>
          <a:prstGeom prst="rect">
            <a:avLst/>
          </a:prstGeom>
          <a:noFill/>
          <a:ln/>
        </p:spPr>
        <p:txBody>
          <a:bodyPr wrap="square" lIns="0" tIns="0" rIns="0" bIns="0" rtlCol="0" anchor="t"/>
          <a:lstStyle/>
          <a:p>
            <a:pPr marL="0" indent="0" algn="l">
              <a:lnSpc>
                <a:spcPts val="4500"/>
              </a:lnSpc>
              <a:buNone/>
            </a:pPr>
            <a:r>
              <a:rPr lang="en-US" sz="3600" dirty="0">
                <a:solidFill>
                  <a:srgbClr val="000000"/>
                </a:solidFill>
                <a:latin typeface="Source Serif Pro Semi Bold" pitchFamily="34" charset="0"/>
                <a:ea typeface="Source Serif Pro Semi Bold" pitchFamily="34" charset="-122"/>
                <a:cs typeface="Source Serif Pro Semi Bold" pitchFamily="34" charset="-120"/>
              </a:rPr>
              <a:t>Retrieval-Augmented Generation Chatbots | Darnytsia</a:t>
            </a:r>
            <a:endParaRPr lang="en-US" sz="3600" dirty="0"/>
          </a:p>
        </p:txBody>
      </p:sp>
      <p:sp>
        <p:nvSpPr>
          <p:cNvPr id="4" name="Shape 1"/>
          <p:cNvSpPr/>
          <p:nvPr/>
        </p:nvSpPr>
        <p:spPr>
          <a:xfrm>
            <a:off x="6170533" y="2215991"/>
            <a:ext cx="146566" cy="1342906"/>
          </a:xfrm>
          <a:prstGeom prst="roundRect">
            <a:avLst>
              <a:gd name="adj" fmla="val 56013"/>
            </a:avLst>
          </a:prstGeom>
          <a:solidFill>
            <a:srgbClr val="F0D4F7"/>
          </a:solidFill>
          <a:ln w="7620">
            <a:solidFill>
              <a:srgbClr val="D6BADD"/>
            </a:solidFill>
            <a:prstDash val="solid"/>
          </a:ln>
        </p:spPr>
        <p:txBody>
          <a:bodyPr/>
          <a:lstStyle/>
          <a:p>
            <a:endParaRPr lang="en-PL"/>
          </a:p>
        </p:txBody>
      </p:sp>
      <p:sp>
        <p:nvSpPr>
          <p:cNvPr id="5" name="Text 2"/>
          <p:cNvSpPr/>
          <p:nvPr/>
        </p:nvSpPr>
        <p:spPr>
          <a:xfrm>
            <a:off x="6610231" y="2215991"/>
            <a:ext cx="2299573" cy="287298"/>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Source Serif Pro Semi Bold" pitchFamily="34" charset="0"/>
                <a:ea typeface="Source Serif Pro Semi Bold" pitchFamily="34" charset="-122"/>
                <a:cs typeface="Source Serif Pro Semi Bold" pitchFamily="34" charset="-120"/>
              </a:rPr>
              <a:t>Task</a:t>
            </a:r>
            <a:endParaRPr lang="en-US" sz="1800" dirty="0"/>
          </a:p>
        </p:txBody>
      </p:sp>
      <p:sp>
        <p:nvSpPr>
          <p:cNvPr id="6" name="Text 3"/>
          <p:cNvSpPr/>
          <p:nvPr/>
        </p:nvSpPr>
        <p:spPr>
          <a:xfrm>
            <a:off x="6610231" y="2620566"/>
            <a:ext cx="7336036" cy="938332"/>
          </a:xfrm>
          <a:prstGeom prst="rect">
            <a:avLst/>
          </a:prstGeom>
          <a:noFill/>
          <a:ln/>
        </p:spPr>
        <p:txBody>
          <a:bodyPr wrap="square" lIns="0" tIns="0" rIns="0" bIns="0" rtlCol="0" anchor="t"/>
          <a:lstStyle/>
          <a:p>
            <a:pPr marL="0" indent="0" algn="l">
              <a:lnSpc>
                <a:spcPts val="2450"/>
              </a:lnSpc>
              <a:buNone/>
            </a:pPr>
            <a:r>
              <a:rPr lang="en-US" sz="1500" dirty="0">
                <a:solidFill>
                  <a:srgbClr val="272525"/>
                </a:solidFill>
                <a:latin typeface="Source Sans Pro" pitchFamily="34" charset="0"/>
                <a:ea typeface="Source Sans Pro" pitchFamily="34" charset="-122"/>
                <a:cs typeface="Source Sans Pro" pitchFamily="34" charset="-120"/>
              </a:rPr>
              <a:t>Develop accurate, context-aware chatbots by integrating ChatGPT with retrieval mechanisms that enable real-time access to relevant information, ensuring the chatbot can provide precise and informative responses tailored to user queries.</a:t>
            </a:r>
            <a:endParaRPr lang="en-US" sz="1500" dirty="0"/>
          </a:p>
        </p:txBody>
      </p:sp>
      <p:sp>
        <p:nvSpPr>
          <p:cNvPr id="7" name="Shape 4"/>
          <p:cNvSpPr/>
          <p:nvPr/>
        </p:nvSpPr>
        <p:spPr>
          <a:xfrm>
            <a:off x="6463665" y="3754279"/>
            <a:ext cx="146566" cy="1655683"/>
          </a:xfrm>
          <a:prstGeom prst="roundRect">
            <a:avLst>
              <a:gd name="adj" fmla="val 56013"/>
            </a:avLst>
          </a:prstGeom>
          <a:solidFill>
            <a:srgbClr val="F0D4F7"/>
          </a:solidFill>
          <a:ln w="7620">
            <a:solidFill>
              <a:srgbClr val="D6BADD"/>
            </a:solidFill>
            <a:prstDash val="solid"/>
          </a:ln>
        </p:spPr>
        <p:txBody>
          <a:bodyPr/>
          <a:lstStyle/>
          <a:p>
            <a:endParaRPr lang="en-PL"/>
          </a:p>
        </p:txBody>
      </p:sp>
      <p:sp>
        <p:nvSpPr>
          <p:cNvPr id="8" name="Text 5"/>
          <p:cNvSpPr/>
          <p:nvPr/>
        </p:nvSpPr>
        <p:spPr>
          <a:xfrm>
            <a:off x="6903363" y="3754279"/>
            <a:ext cx="2299573" cy="287298"/>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Source Serif Pro Semi Bold" pitchFamily="34" charset="0"/>
                <a:ea typeface="Source Serif Pro Semi Bold" pitchFamily="34" charset="-122"/>
                <a:cs typeface="Source Serif Pro Semi Bold" pitchFamily="34" charset="-120"/>
              </a:rPr>
              <a:t>Approach</a:t>
            </a:r>
            <a:endParaRPr lang="en-US" sz="1800" dirty="0"/>
          </a:p>
        </p:txBody>
      </p:sp>
      <p:sp>
        <p:nvSpPr>
          <p:cNvPr id="9" name="Text 6"/>
          <p:cNvSpPr/>
          <p:nvPr/>
        </p:nvSpPr>
        <p:spPr>
          <a:xfrm>
            <a:off x="6903363" y="4158853"/>
            <a:ext cx="7042904" cy="1251109"/>
          </a:xfrm>
          <a:prstGeom prst="rect">
            <a:avLst/>
          </a:prstGeom>
          <a:noFill/>
          <a:ln/>
        </p:spPr>
        <p:txBody>
          <a:bodyPr wrap="square" lIns="0" tIns="0" rIns="0" bIns="0" rtlCol="0" anchor="t"/>
          <a:lstStyle/>
          <a:p>
            <a:pPr marL="0" indent="0" algn="l">
              <a:lnSpc>
                <a:spcPts val="2450"/>
              </a:lnSpc>
              <a:buNone/>
            </a:pPr>
            <a:r>
              <a:rPr lang="en-US" sz="1500" dirty="0">
                <a:solidFill>
                  <a:srgbClr val="272525"/>
                </a:solidFill>
                <a:latin typeface="Source Sans Pro" pitchFamily="34" charset="0"/>
                <a:ea typeface="Source Sans Pro" pitchFamily="34" charset="-122"/>
                <a:cs typeface="Source Sans Pro" pitchFamily="34" charset="-120"/>
              </a:rPr>
              <a:t>Implemented a robust Python backend to seamlessly combine natural language processing with retrieval-augmented generation techniques. The solution was deployed on Microsoft Azure leveraging Docker containers orchestrated by AppService, providing scalability, reliability, and ease of maintenance.</a:t>
            </a:r>
            <a:endParaRPr lang="en-US" sz="1500" dirty="0"/>
          </a:p>
        </p:txBody>
      </p:sp>
      <p:sp>
        <p:nvSpPr>
          <p:cNvPr id="10" name="Shape 7"/>
          <p:cNvSpPr/>
          <p:nvPr/>
        </p:nvSpPr>
        <p:spPr>
          <a:xfrm>
            <a:off x="6756916" y="5605343"/>
            <a:ext cx="146566" cy="1655683"/>
          </a:xfrm>
          <a:prstGeom prst="roundRect">
            <a:avLst>
              <a:gd name="adj" fmla="val 56013"/>
            </a:avLst>
          </a:prstGeom>
          <a:solidFill>
            <a:srgbClr val="F0D4F7"/>
          </a:solidFill>
          <a:ln w="7620">
            <a:solidFill>
              <a:srgbClr val="D6BADD"/>
            </a:solidFill>
            <a:prstDash val="solid"/>
          </a:ln>
        </p:spPr>
        <p:txBody>
          <a:bodyPr/>
          <a:lstStyle/>
          <a:p>
            <a:endParaRPr lang="en-PL"/>
          </a:p>
        </p:txBody>
      </p:sp>
      <p:sp>
        <p:nvSpPr>
          <p:cNvPr id="11" name="Text 8"/>
          <p:cNvSpPr/>
          <p:nvPr/>
        </p:nvSpPr>
        <p:spPr>
          <a:xfrm>
            <a:off x="7196614" y="5605343"/>
            <a:ext cx="2299573" cy="287298"/>
          </a:xfrm>
          <a:prstGeom prst="rect">
            <a:avLst/>
          </a:prstGeom>
          <a:noFill/>
          <a:ln/>
        </p:spPr>
        <p:txBody>
          <a:bodyPr wrap="none" lIns="0" tIns="0" rIns="0" bIns="0" rtlCol="0" anchor="t"/>
          <a:lstStyle/>
          <a:p>
            <a:pPr marL="0" indent="0" algn="l">
              <a:lnSpc>
                <a:spcPts val="2250"/>
              </a:lnSpc>
              <a:buNone/>
            </a:pPr>
            <a:r>
              <a:rPr lang="en-US" sz="1800" dirty="0">
                <a:solidFill>
                  <a:srgbClr val="272525"/>
                </a:solidFill>
                <a:latin typeface="Source Serif Pro Semi Bold" pitchFamily="34" charset="0"/>
                <a:ea typeface="Source Serif Pro Semi Bold" pitchFamily="34" charset="-122"/>
                <a:cs typeface="Source Serif Pro Semi Bold" pitchFamily="34" charset="-120"/>
              </a:rPr>
              <a:t>Result</a:t>
            </a:r>
            <a:endParaRPr lang="en-US" sz="1800" dirty="0"/>
          </a:p>
        </p:txBody>
      </p:sp>
      <p:sp>
        <p:nvSpPr>
          <p:cNvPr id="12" name="Text 9"/>
          <p:cNvSpPr/>
          <p:nvPr/>
        </p:nvSpPr>
        <p:spPr>
          <a:xfrm>
            <a:off x="7196614" y="6009918"/>
            <a:ext cx="6749653" cy="1251109"/>
          </a:xfrm>
          <a:prstGeom prst="rect">
            <a:avLst/>
          </a:prstGeom>
          <a:noFill/>
          <a:ln/>
        </p:spPr>
        <p:txBody>
          <a:bodyPr wrap="square" lIns="0" tIns="0" rIns="0" bIns="0" rtlCol="0" anchor="t"/>
          <a:lstStyle/>
          <a:p>
            <a:pPr marL="0" indent="0" algn="l">
              <a:lnSpc>
                <a:spcPts val="2450"/>
              </a:lnSpc>
              <a:buNone/>
            </a:pPr>
            <a:r>
              <a:rPr lang="en-US" sz="1500" dirty="0">
                <a:solidFill>
                  <a:srgbClr val="272525"/>
                </a:solidFill>
                <a:latin typeface="Source Sans Pro" pitchFamily="34" charset="0"/>
                <a:ea typeface="Source Sans Pro" pitchFamily="34" charset="-122"/>
                <a:cs typeface="Source Sans Pro" pitchFamily="34" charset="-120"/>
              </a:rPr>
              <a:t>Delivered intelligent chatbots that demonstrate enhanced accuracy and contextual relevance in user interactions. These AI-powered assistants efficiently retrieve and synthesize information, leading to improved user satisfaction and actionable conversational insights.</a:t>
            </a:r>
            <a:endParaRPr lang="en-US" sz="1500" dirty="0"/>
          </a:p>
        </p:txBody>
      </p:sp>
      <p:sp>
        <p:nvSpPr>
          <p:cNvPr id="13" name="TextBox 12">
            <a:extLst>
              <a:ext uri="{FF2B5EF4-FFF2-40B4-BE49-F238E27FC236}">
                <a16:creationId xmlns:a16="http://schemas.microsoft.com/office/drawing/2014/main" id="{848BE32D-EE60-34E4-4D00-5B55D1E566BB}"/>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66048" y="601861"/>
            <a:ext cx="11281410" cy="643771"/>
          </a:xfrm>
          <a:prstGeom prst="rect">
            <a:avLst/>
          </a:prstGeom>
          <a:noFill/>
          <a:ln/>
        </p:spPr>
        <p:txBody>
          <a:bodyPr wrap="none" lIns="0" tIns="0" rIns="0" bIns="0" rtlCol="0" anchor="t"/>
          <a:lstStyle/>
          <a:p>
            <a:pPr marL="0" indent="0" algn="l">
              <a:lnSpc>
                <a:spcPts val="5050"/>
              </a:lnSpc>
              <a:buNone/>
            </a:pPr>
            <a:r>
              <a:rPr lang="en-US" sz="4050" dirty="0">
                <a:solidFill>
                  <a:srgbClr val="000000"/>
                </a:solidFill>
                <a:latin typeface="Source Serif Pro Semi Bold" pitchFamily="34" charset="0"/>
                <a:ea typeface="Source Serif Pro Semi Bold" pitchFamily="34" charset="-122"/>
                <a:cs typeface="Source Serif Pro Semi Bold" pitchFamily="34" charset="-120"/>
              </a:rPr>
              <a:t>Microsoft Teams File Translator Bot | Kormotech</a:t>
            </a:r>
            <a:endParaRPr lang="en-US" sz="4050" dirty="0"/>
          </a:p>
        </p:txBody>
      </p:sp>
      <p:sp>
        <p:nvSpPr>
          <p:cNvPr id="3" name="Text 1"/>
          <p:cNvSpPr/>
          <p:nvPr/>
        </p:nvSpPr>
        <p:spPr>
          <a:xfrm>
            <a:off x="766048" y="1792724"/>
            <a:ext cx="2574965" cy="321826"/>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Source Serif Pro Semi Bold" pitchFamily="34" charset="0"/>
                <a:ea typeface="Source Serif Pro Semi Bold" pitchFamily="34" charset="-122"/>
                <a:cs typeface="Source Serif Pro Semi Bold" pitchFamily="34" charset="-120"/>
              </a:rPr>
              <a:t>Project</a:t>
            </a:r>
            <a:endParaRPr lang="en-US" sz="2000" dirty="0"/>
          </a:p>
        </p:txBody>
      </p:sp>
      <p:sp>
        <p:nvSpPr>
          <p:cNvPr id="4" name="Text 2"/>
          <p:cNvSpPr/>
          <p:nvPr/>
        </p:nvSpPr>
        <p:spPr>
          <a:xfrm>
            <a:off x="766048" y="2333387"/>
            <a:ext cx="4009668" cy="2450306"/>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Created a Microsoft Teams chatbot capable of translating files such as PDFs and DOCX documents while preserving their original formatting and structure. The bot enables users to interact directly within Teams to obtain translations without needing to use external tools.</a:t>
            </a:r>
            <a:endParaRPr lang="en-US" sz="1700" dirty="0"/>
          </a:p>
        </p:txBody>
      </p:sp>
      <p:sp>
        <p:nvSpPr>
          <p:cNvPr id="5" name="Text 3"/>
          <p:cNvSpPr/>
          <p:nvPr/>
        </p:nvSpPr>
        <p:spPr>
          <a:xfrm>
            <a:off x="766048" y="4980623"/>
            <a:ext cx="4009668" cy="1400175"/>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This solution improves accessibility and communication for multilingual teams by efficiently handling various document types and layouts.</a:t>
            </a:r>
            <a:endParaRPr lang="en-US" sz="1700" dirty="0"/>
          </a:p>
        </p:txBody>
      </p:sp>
      <p:sp>
        <p:nvSpPr>
          <p:cNvPr id="6" name="Text 4"/>
          <p:cNvSpPr/>
          <p:nvPr/>
        </p:nvSpPr>
        <p:spPr>
          <a:xfrm>
            <a:off x="5317212" y="1792724"/>
            <a:ext cx="2574965" cy="321826"/>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Source Serif Pro Semi Bold" pitchFamily="34" charset="0"/>
                <a:ea typeface="Source Serif Pro Semi Bold" pitchFamily="34" charset="-122"/>
                <a:cs typeface="Source Serif Pro Semi Bold" pitchFamily="34" charset="-120"/>
              </a:rPr>
              <a:t>Tech</a:t>
            </a:r>
            <a:endParaRPr lang="en-US" sz="2000" dirty="0"/>
          </a:p>
        </p:txBody>
      </p:sp>
      <p:sp>
        <p:nvSpPr>
          <p:cNvPr id="7" name="Text 5"/>
          <p:cNvSpPr/>
          <p:nvPr/>
        </p:nvSpPr>
        <p:spPr>
          <a:xfrm>
            <a:off x="5317212" y="2333387"/>
            <a:ext cx="4009668" cy="3150394"/>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The bot was developed using Python for backend logic, integrating the ChatGPT API to leverage advanced natural language understanding for accurate translation. Microsoft Bot Framework and Azure Bot Service were used to deploy and manage the chatbot seamlessly within the Teams environment, ensuring scalability and reliability.</a:t>
            </a:r>
            <a:endParaRPr lang="en-US" sz="1700" dirty="0"/>
          </a:p>
        </p:txBody>
      </p:sp>
      <p:sp>
        <p:nvSpPr>
          <p:cNvPr id="8" name="Text 6"/>
          <p:cNvSpPr/>
          <p:nvPr/>
        </p:nvSpPr>
        <p:spPr>
          <a:xfrm>
            <a:off x="5317212" y="5680710"/>
            <a:ext cx="4009668" cy="1400175"/>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Additional technologies included OCR tools to extract text from images and layout analysis algorithms to maintain document fidelity during translation.</a:t>
            </a:r>
            <a:endParaRPr lang="en-US" sz="1700" dirty="0"/>
          </a:p>
        </p:txBody>
      </p:sp>
      <p:sp>
        <p:nvSpPr>
          <p:cNvPr id="9" name="Text 7"/>
          <p:cNvSpPr/>
          <p:nvPr/>
        </p:nvSpPr>
        <p:spPr>
          <a:xfrm>
            <a:off x="9868376" y="1792724"/>
            <a:ext cx="2574965" cy="321826"/>
          </a:xfrm>
          <a:prstGeom prst="rect">
            <a:avLst/>
          </a:prstGeom>
          <a:noFill/>
          <a:ln/>
        </p:spPr>
        <p:txBody>
          <a:bodyPr wrap="none" lIns="0" tIns="0" rIns="0" bIns="0" rtlCol="0" anchor="t"/>
          <a:lstStyle/>
          <a:p>
            <a:pPr marL="0" indent="0" algn="l">
              <a:lnSpc>
                <a:spcPts val="2500"/>
              </a:lnSpc>
              <a:buNone/>
            </a:pPr>
            <a:r>
              <a:rPr lang="en-US" sz="2000" dirty="0">
                <a:solidFill>
                  <a:srgbClr val="000000"/>
                </a:solidFill>
                <a:latin typeface="Source Serif Pro Semi Bold" pitchFamily="34" charset="0"/>
                <a:ea typeface="Source Serif Pro Semi Bold" pitchFamily="34" charset="-122"/>
                <a:cs typeface="Source Serif Pro Semi Bold" pitchFamily="34" charset="-120"/>
              </a:rPr>
              <a:t>Impact</a:t>
            </a:r>
            <a:endParaRPr lang="en-US" sz="2000" dirty="0"/>
          </a:p>
        </p:txBody>
      </p:sp>
      <p:sp>
        <p:nvSpPr>
          <p:cNvPr id="10" name="Text 8"/>
          <p:cNvSpPr/>
          <p:nvPr/>
        </p:nvSpPr>
        <p:spPr>
          <a:xfrm>
            <a:off x="9868376" y="2333387"/>
            <a:ext cx="4009668" cy="3150394"/>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This translation bot significantly streamlined the translation workflows for businesses, reducing manual effort and turnaround time while maintaining high fidelity to the original document's layout and formatting. It enhanced collaboration across international teams by enabling instant translations within the familiar Teams interface.</a:t>
            </a:r>
            <a:endParaRPr lang="en-US" sz="1700" dirty="0"/>
          </a:p>
        </p:txBody>
      </p:sp>
      <p:sp>
        <p:nvSpPr>
          <p:cNvPr id="11" name="Text 9"/>
          <p:cNvSpPr/>
          <p:nvPr/>
        </p:nvSpPr>
        <p:spPr>
          <a:xfrm>
            <a:off x="9868376" y="5680710"/>
            <a:ext cx="4009668" cy="1750219"/>
          </a:xfrm>
          <a:prstGeom prst="rect">
            <a:avLst/>
          </a:prstGeom>
          <a:noFill/>
          <a:ln/>
        </p:spPr>
        <p:txBody>
          <a:bodyPr wrap="square" lIns="0" tIns="0" rIns="0" bIns="0" rtlCol="0" anchor="t"/>
          <a:lstStyle/>
          <a:p>
            <a:pPr marL="0" indent="0" algn="l">
              <a:lnSpc>
                <a:spcPts val="2750"/>
              </a:lnSpc>
              <a:buNone/>
            </a:pPr>
            <a:r>
              <a:rPr lang="en-US" sz="1700" dirty="0">
                <a:solidFill>
                  <a:srgbClr val="272525"/>
                </a:solidFill>
                <a:latin typeface="Source Sans Pro" pitchFamily="34" charset="0"/>
                <a:ea typeface="Source Sans Pro" pitchFamily="34" charset="-122"/>
                <a:cs typeface="Source Sans Pro" pitchFamily="34" charset="-120"/>
              </a:rPr>
              <a:t>Moreover, the solution improved document handling efficiency, minimized errors in translated content, and supported a wide range of file formats, thereby increasing overall productivity.</a:t>
            </a:r>
            <a:endParaRPr lang="en-US" sz="1700" dirty="0"/>
          </a:p>
        </p:txBody>
      </p:sp>
      <p:sp>
        <p:nvSpPr>
          <p:cNvPr id="12" name="TextBox 11">
            <a:extLst>
              <a:ext uri="{FF2B5EF4-FFF2-40B4-BE49-F238E27FC236}">
                <a16:creationId xmlns:a16="http://schemas.microsoft.com/office/drawing/2014/main" id="{8D266CC0-05A6-7AA7-11E3-E0CBB2ACEEE2}"/>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256348"/>
            <a:ext cx="11020663"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Speech &amp; Face Recognition R&amp;D | TietoEvry</a:t>
            </a:r>
            <a:endParaRPr lang="en-US" sz="4400" dirty="0"/>
          </a:p>
        </p:txBody>
      </p:sp>
      <p:sp>
        <p:nvSpPr>
          <p:cNvPr id="3" name="Text 1"/>
          <p:cNvSpPr/>
          <p:nvPr/>
        </p:nvSpPr>
        <p:spPr>
          <a:xfrm>
            <a:off x="1753195" y="4075390"/>
            <a:ext cx="2816185" cy="351949"/>
          </a:xfrm>
          <a:prstGeom prst="rect">
            <a:avLst/>
          </a:prstGeom>
          <a:noFill/>
          <a:ln/>
        </p:spPr>
        <p:txBody>
          <a:bodyPr wrap="none" lIns="0" tIns="0" rIns="0" bIns="0" rtlCol="0" anchor="t"/>
          <a:lstStyle/>
          <a:p>
            <a:pPr marL="0" indent="0" algn="r">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Research</a:t>
            </a:r>
            <a:endParaRPr lang="en-US" sz="2200" dirty="0"/>
          </a:p>
        </p:txBody>
      </p:sp>
      <p:sp>
        <p:nvSpPr>
          <p:cNvPr id="4" name="Text 2"/>
          <p:cNvSpPr/>
          <p:nvPr/>
        </p:nvSpPr>
        <p:spPr>
          <a:xfrm>
            <a:off x="837724" y="4570928"/>
            <a:ext cx="3731657" cy="766048"/>
          </a:xfrm>
          <a:prstGeom prst="rect">
            <a:avLst/>
          </a:prstGeom>
          <a:noFill/>
          <a:ln/>
        </p:spPr>
        <p:txBody>
          <a:bodyPr wrap="square" lIns="0" tIns="0" rIns="0" bIns="0" rtlCol="0" anchor="t"/>
          <a:lstStyle/>
          <a:p>
            <a:pPr marL="0" indent="0" algn="r">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Explored advanced methods in speech synthesis and recognition.</a:t>
            </a:r>
            <a:endParaRPr lang="en-US" sz="1850" dirty="0"/>
          </a:p>
        </p:txBody>
      </p:sp>
      <p:pic>
        <p:nvPicPr>
          <p:cNvPr id="5" name="Image 0" descr="preencoded.png"/>
          <p:cNvPicPr>
            <a:picLocks noChangeAspect="1"/>
          </p:cNvPicPr>
          <p:nvPr/>
        </p:nvPicPr>
        <p:blipFill>
          <a:blip r:embed="rId3"/>
          <a:stretch>
            <a:fillRect/>
          </a:stretch>
        </p:blipFill>
        <p:spPr>
          <a:xfrm>
            <a:off x="5048131" y="2439114"/>
            <a:ext cx="4534138" cy="4534138"/>
          </a:xfrm>
          <a:prstGeom prst="rect">
            <a:avLst/>
          </a:prstGeom>
        </p:spPr>
      </p:pic>
      <p:sp>
        <p:nvSpPr>
          <p:cNvPr id="6" name="Text 3"/>
          <p:cNvSpPr/>
          <p:nvPr/>
        </p:nvSpPr>
        <p:spPr>
          <a:xfrm>
            <a:off x="5572720" y="4209455"/>
            <a:ext cx="358140" cy="447675"/>
          </a:xfrm>
          <a:prstGeom prst="rect">
            <a:avLst/>
          </a:prstGeom>
          <a:noFill/>
          <a:ln/>
        </p:spPr>
        <p:txBody>
          <a:bodyPr wrap="none" lIns="0" tIns="0" rIns="0" bIns="0" rtlCol="0" anchor="t"/>
          <a:lstStyle/>
          <a:p>
            <a:pPr marL="0" indent="0" algn="l">
              <a:lnSpc>
                <a:spcPts val="4500"/>
              </a:lnSpc>
              <a:buNone/>
            </a:pPr>
            <a:r>
              <a:rPr lang="en-US" sz="2800" dirty="0">
                <a:solidFill>
                  <a:srgbClr val="272525"/>
                </a:solidFill>
                <a:latin typeface="Source Serif Pro Semi Bold" pitchFamily="34" charset="0"/>
                <a:ea typeface="Source Serif Pro Semi Bold" pitchFamily="34" charset="-122"/>
                <a:cs typeface="Source Serif Pro Semi Bold" pitchFamily="34" charset="-120"/>
              </a:rPr>
              <a:t>1</a:t>
            </a:r>
            <a:endParaRPr lang="en-US" sz="2800" dirty="0"/>
          </a:p>
        </p:txBody>
      </p:sp>
      <p:sp>
        <p:nvSpPr>
          <p:cNvPr id="7" name="Text 4"/>
          <p:cNvSpPr/>
          <p:nvPr/>
        </p:nvSpPr>
        <p:spPr>
          <a:xfrm>
            <a:off x="9941243" y="2660571"/>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Development</a:t>
            </a:r>
            <a:endParaRPr lang="en-US" sz="2200" dirty="0"/>
          </a:p>
        </p:txBody>
      </p:sp>
      <p:sp>
        <p:nvSpPr>
          <p:cNvPr id="8" name="Text 5"/>
          <p:cNvSpPr/>
          <p:nvPr/>
        </p:nvSpPr>
        <p:spPr>
          <a:xfrm>
            <a:off x="9941243" y="3156109"/>
            <a:ext cx="3851434"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Enhanced face recognition algorithms using deep learning and vector databases.</a:t>
            </a:r>
            <a:endParaRPr lang="en-US" sz="1850" dirty="0"/>
          </a:p>
        </p:txBody>
      </p:sp>
      <p:pic>
        <p:nvPicPr>
          <p:cNvPr id="9" name="Image 1" descr="preencoded.png"/>
          <p:cNvPicPr>
            <a:picLocks noChangeAspect="1"/>
          </p:cNvPicPr>
          <p:nvPr/>
        </p:nvPicPr>
        <p:blipFill>
          <a:blip r:embed="rId4"/>
          <a:stretch>
            <a:fillRect/>
          </a:stretch>
        </p:blipFill>
        <p:spPr>
          <a:xfrm>
            <a:off x="5048131" y="2439114"/>
            <a:ext cx="4534138" cy="4534138"/>
          </a:xfrm>
          <a:prstGeom prst="rect">
            <a:avLst/>
          </a:prstGeom>
        </p:spPr>
      </p:pic>
      <p:sp>
        <p:nvSpPr>
          <p:cNvPr id="10" name="Text 6"/>
          <p:cNvSpPr/>
          <p:nvPr/>
        </p:nvSpPr>
        <p:spPr>
          <a:xfrm>
            <a:off x="8153995" y="3264813"/>
            <a:ext cx="358140" cy="447675"/>
          </a:xfrm>
          <a:prstGeom prst="rect">
            <a:avLst/>
          </a:prstGeom>
          <a:noFill/>
          <a:ln/>
        </p:spPr>
        <p:txBody>
          <a:bodyPr wrap="none" lIns="0" tIns="0" rIns="0" bIns="0" rtlCol="0" anchor="t"/>
          <a:lstStyle/>
          <a:p>
            <a:pPr marL="0" indent="0" algn="l">
              <a:lnSpc>
                <a:spcPts val="4500"/>
              </a:lnSpc>
              <a:buNone/>
            </a:pPr>
            <a:r>
              <a:rPr lang="en-US" sz="2800" dirty="0">
                <a:solidFill>
                  <a:srgbClr val="272525"/>
                </a:solidFill>
                <a:latin typeface="Source Serif Pro Semi Bold" pitchFamily="34" charset="0"/>
                <a:ea typeface="Source Serif Pro Semi Bold" pitchFamily="34" charset="-122"/>
                <a:cs typeface="Source Serif Pro Semi Bold" pitchFamily="34" charset="-120"/>
              </a:rPr>
              <a:t>2</a:t>
            </a:r>
            <a:endParaRPr lang="en-US" sz="2800" dirty="0"/>
          </a:p>
        </p:txBody>
      </p:sp>
      <p:sp>
        <p:nvSpPr>
          <p:cNvPr id="11" name="Text 7"/>
          <p:cNvSpPr/>
          <p:nvPr/>
        </p:nvSpPr>
        <p:spPr>
          <a:xfrm>
            <a:off x="9941243" y="510706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Deployment</a:t>
            </a:r>
            <a:endParaRPr lang="en-US" sz="2200" dirty="0"/>
          </a:p>
        </p:txBody>
      </p:sp>
      <p:sp>
        <p:nvSpPr>
          <p:cNvPr id="12" name="Text 8"/>
          <p:cNvSpPr/>
          <p:nvPr/>
        </p:nvSpPr>
        <p:spPr>
          <a:xfrm>
            <a:off x="9941243" y="5602605"/>
            <a:ext cx="3851434"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Implemented scalable Milvus vector DB on Kubernetes with pipeline automation.</a:t>
            </a:r>
            <a:endParaRPr lang="en-US" sz="1850" dirty="0"/>
          </a:p>
        </p:txBody>
      </p:sp>
      <p:pic>
        <p:nvPicPr>
          <p:cNvPr id="13" name="Image 2" descr="preencoded.png"/>
          <p:cNvPicPr>
            <a:picLocks noChangeAspect="1"/>
          </p:cNvPicPr>
          <p:nvPr/>
        </p:nvPicPr>
        <p:blipFill>
          <a:blip r:embed="rId5"/>
          <a:stretch>
            <a:fillRect/>
          </a:stretch>
        </p:blipFill>
        <p:spPr>
          <a:xfrm>
            <a:off x="5048131" y="2439114"/>
            <a:ext cx="4534138" cy="4534138"/>
          </a:xfrm>
          <a:prstGeom prst="rect">
            <a:avLst/>
          </a:prstGeom>
        </p:spPr>
      </p:pic>
      <p:sp>
        <p:nvSpPr>
          <p:cNvPr id="14" name="Text 9"/>
          <p:cNvSpPr/>
          <p:nvPr/>
        </p:nvSpPr>
        <p:spPr>
          <a:xfrm>
            <a:off x="7681436" y="5972532"/>
            <a:ext cx="358140" cy="447675"/>
          </a:xfrm>
          <a:prstGeom prst="rect">
            <a:avLst/>
          </a:prstGeom>
          <a:noFill/>
          <a:ln/>
        </p:spPr>
        <p:txBody>
          <a:bodyPr wrap="none" lIns="0" tIns="0" rIns="0" bIns="0" rtlCol="0" anchor="t"/>
          <a:lstStyle/>
          <a:p>
            <a:pPr marL="0" indent="0" algn="l">
              <a:lnSpc>
                <a:spcPts val="4500"/>
              </a:lnSpc>
              <a:buNone/>
            </a:pPr>
            <a:r>
              <a:rPr lang="en-US" sz="2800" dirty="0">
                <a:solidFill>
                  <a:srgbClr val="272525"/>
                </a:solidFill>
                <a:latin typeface="Source Serif Pro Semi Bold" pitchFamily="34" charset="0"/>
                <a:ea typeface="Source Serif Pro Semi Bold" pitchFamily="34" charset="-122"/>
                <a:cs typeface="Source Serif Pro Semi Bold" pitchFamily="34" charset="-120"/>
              </a:rPr>
              <a:t>3</a:t>
            </a:r>
            <a:endParaRPr lang="en-US" sz="2800" dirty="0"/>
          </a:p>
        </p:txBody>
      </p:sp>
      <p:sp>
        <p:nvSpPr>
          <p:cNvPr id="15" name="TextBox 14">
            <a:extLst>
              <a:ext uri="{FF2B5EF4-FFF2-40B4-BE49-F238E27FC236}">
                <a16:creationId xmlns:a16="http://schemas.microsoft.com/office/drawing/2014/main" id="{AC6F4E74-6D6C-20A8-CC93-1C1568B9ED08}"/>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47355" y="903923"/>
            <a:ext cx="12589788" cy="628055"/>
          </a:xfrm>
          <a:prstGeom prst="rect">
            <a:avLst/>
          </a:prstGeom>
          <a:noFill/>
          <a:ln/>
        </p:spPr>
        <p:txBody>
          <a:bodyPr wrap="none" lIns="0" tIns="0" rIns="0" bIns="0" rtlCol="0" anchor="t"/>
          <a:lstStyle/>
          <a:p>
            <a:pPr marL="0" indent="0" algn="l">
              <a:lnSpc>
                <a:spcPts val="4900"/>
              </a:lnSpc>
              <a:buNone/>
            </a:pPr>
            <a:r>
              <a:rPr lang="en-US" sz="3950" dirty="0">
                <a:solidFill>
                  <a:srgbClr val="000000"/>
                </a:solidFill>
                <a:latin typeface="Source Serif Pro Semi Bold" pitchFamily="34" charset="0"/>
                <a:ea typeface="Source Serif Pro Semi Bold" pitchFamily="34" charset="-122"/>
                <a:cs typeface="Source Serif Pro Semi Bold" pitchFamily="34" charset="-120"/>
              </a:rPr>
              <a:t>Multilingual Video Transcription System | War of Words</a:t>
            </a:r>
            <a:endParaRPr lang="en-US" sz="3950" dirty="0"/>
          </a:p>
        </p:txBody>
      </p:sp>
      <p:sp>
        <p:nvSpPr>
          <p:cNvPr id="3" name="Shape 1"/>
          <p:cNvSpPr/>
          <p:nvPr/>
        </p:nvSpPr>
        <p:spPr>
          <a:xfrm>
            <a:off x="987504" y="1852255"/>
            <a:ext cx="30480" cy="5473422"/>
          </a:xfrm>
          <a:prstGeom prst="roundRect">
            <a:avLst>
              <a:gd name="adj" fmla="val 294242"/>
            </a:avLst>
          </a:prstGeom>
          <a:solidFill>
            <a:srgbClr val="D6BADD"/>
          </a:solidFill>
          <a:ln/>
        </p:spPr>
        <p:txBody>
          <a:bodyPr/>
          <a:lstStyle/>
          <a:p>
            <a:endParaRPr lang="en-PL"/>
          </a:p>
        </p:txBody>
      </p:sp>
      <p:sp>
        <p:nvSpPr>
          <p:cNvPr id="4" name="Shape 2"/>
          <p:cNvSpPr/>
          <p:nvPr/>
        </p:nvSpPr>
        <p:spPr>
          <a:xfrm>
            <a:off x="1197233" y="2077164"/>
            <a:ext cx="640556" cy="30480"/>
          </a:xfrm>
          <a:prstGeom prst="roundRect">
            <a:avLst>
              <a:gd name="adj" fmla="val 294242"/>
            </a:avLst>
          </a:prstGeom>
          <a:solidFill>
            <a:srgbClr val="D6BADD"/>
          </a:solidFill>
          <a:ln/>
        </p:spPr>
        <p:txBody>
          <a:bodyPr/>
          <a:lstStyle/>
          <a:p>
            <a:endParaRPr lang="en-PL"/>
          </a:p>
        </p:txBody>
      </p:sp>
      <p:sp>
        <p:nvSpPr>
          <p:cNvPr id="5" name="Shape 3"/>
          <p:cNvSpPr/>
          <p:nvPr/>
        </p:nvSpPr>
        <p:spPr>
          <a:xfrm>
            <a:off x="747296" y="1852255"/>
            <a:ext cx="480417" cy="480417"/>
          </a:xfrm>
          <a:prstGeom prst="roundRect">
            <a:avLst>
              <a:gd name="adj" fmla="val 18668"/>
            </a:avLst>
          </a:prstGeom>
          <a:solidFill>
            <a:srgbClr val="F0D4F7"/>
          </a:solidFill>
          <a:ln w="7620">
            <a:solidFill>
              <a:srgbClr val="D6BADD"/>
            </a:solidFill>
            <a:prstDash val="solid"/>
          </a:ln>
        </p:spPr>
        <p:txBody>
          <a:bodyPr/>
          <a:lstStyle/>
          <a:p>
            <a:endParaRPr lang="en-PL"/>
          </a:p>
        </p:txBody>
      </p:sp>
      <p:sp>
        <p:nvSpPr>
          <p:cNvPr id="6" name="Text 4"/>
          <p:cNvSpPr/>
          <p:nvPr/>
        </p:nvSpPr>
        <p:spPr>
          <a:xfrm>
            <a:off x="836771" y="1904048"/>
            <a:ext cx="301347" cy="376714"/>
          </a:xfrm>
          <a:prstGeom prst="rect">
            <a:avLst/>
          </a:prstGeom>
          <a:noFill/>
          <a:ln/>
        </p:spPr>
        <p:txBody>
          <a:bodyPr wrap="none" lIns="0" tIns="0" rIns="0" bIns="0" rtlCol="0" anchor="t"/>
          <a:lstStyle/>
          <a:p>
            <a:pPr marL="0" indent="0" algn="ctr">
              <a:lnSpc>
                <a:spcPts val="2350"/>
              </a:lnSpc>
              <a:buNone/>
            </a:pPr>
            <a:r>
              <a:rPr lang="en-US" sz="2350" dirty="0">
                <a:solidFill>
                  <a:srgbClr val="272525"/>
                </a:solidFill>
                <a:latin typeface="Source Serif Pro Semi Bold" pitchFamily="34" charset="0"/>
                <a:ea typeface="Source Serif Pro Semi Bold" pitchFamily="34" charset="-122"/>
                <a:cs typeface="Source Serif Pro Semi Bold" pitchFamily="34" charset="-120"/>
              </a:rPr>
              <a:t>1</a:t>
            </a:r>
            <a:endParaRPr lang="en-US" sz="2350" dirty="0"/>
          </a:p>
        </p:txBody>
      </p:sp>
      <p:sp>
        <p:nvSpPr>
          <p:cNvPr id="7" name="Text 5"/>
          <p:cNvSpPr/>
          <p:nvPr/>
        </p:nvSpPr>
        <p:spPr>
          <a:xfrm>
            <a:off x="2055257" y="1925598"/>
            <a:ext cx="2512100" cy="313968"/>
          </a:xfrm>
          <a:prstGeom prst="rect">
            <a:avLst/>
          </a:prstGeom>
          <a:noFill/>
          <a:ln/>
        </p:spPr>
        <p:txBody>
          <a:bodyPr wrap="none" lIns="0" tIns="0" rIns="0" bIns="0" rtlCol="0" anchor="t"/>
          <a:lstStyle/>
          <a:p>
            <a:pPr marL="0" indent="0" algn="l">
              <a:lnSpc>
                <a:spcPts val="2450"/>
              </a:lnSpc>
              <a:buNone/>
            </a:pPr>
            <a:r>
              <a:rPr lang="en-US" sz="1950" dirty="0">
                <a:solidFill>
                  <a:srgbClr val="272525"/>
                </a:solidFill>
                <a:latin typeface="Source Serif Pro Semi Bold" pitchFamily="34" charset="0"/>
                <a:ea typeface="Source Serif Pro Semi Bold" pitchFamily="34" charset="-122"/>
                <a:cs typeface="Source Serif Pro Semi Bold" pitchFamily="34" charset="-120"/>
              </a:rPr>
              <a:t>Embedding &amp; Search</a:t>
            </a:r>
            <a:endParaRPr lang="en-US" sz="1950" dirty="0"/>
          </a:p>
        </p:txBody>
      </p:sp>
      <p:sp>
        <p:nvSpPr>
          <p:cNvPr id="8" name="Text 6"/>
          <p:cNvSpPr/>
          <p:nvPr/>
        </p:nvSpPr>
        <p:spPr>
          <a:xfrm>
            <a:off x="2055257" y="2367677"/>
            <a:ext cx="11827788" cy="1024414"/>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Pro" pitchFamily="34" charset="0"/>
                <a:ea typeface="Source Sans Pro" pitchFamily="34" charset="-122"/>
                <a:cs typeface="Source Sans Pro" pitchFamily="34" charset="-120"/>
              </a:rPr>
              <a:t>Utilizes a MongoDB vector database to perform rapid and efficient similarity searches on audio embeddings. This technology enables precise identification of relevant audio segments across multiple languages, improving the retrieval speed and accuracy for the transcription system.</a:t>
            </a:r>
            <a:endParaRPr lang="en-US" sz="1650" dirty="0"/>
          </a:p>
        </p:txBody>
      </p:sp>
      <p:sp>
        <p:nvSpPr>
          <p:cNvPr id="9" name="Shape 7"/>
          <p:cNvSpPr/>
          <p:nvPr/>
        </p:nvSpPr>
        <p:spPr>
          <a:xfrm>
            <a:off x="1197233" y="4043958"/>
            <a:ext cx="640556" cy="30480"/>
          </a:xfrm>
          <a:prstGeom prst="roundRect">
            <a:avLst>
              <a:gd name="adj" fmla="val 294242"/>
            </a:avLst>
          </a:prstGeom>
          <a:solidFill>
            <a:srgbClr val="D6BADD"/>
          </a:solidFill>
          <a:ln/>
        </p:spPr>
        <p:txBody>
          <a:bodyPr/>
          <a:lstStyle/>
          <a:p>
            <a:endParaRPr lang="en-PL"/>
          </a:p>
        </p:txBody>
      </p:sp>
      <p:sp>
        <p:nvSpPr>
          <p:cNvPr id="10" name="Shape 8"/>
          <p:cNvSpPr/>
          <p:nvPr/>
        </p:nvSpPr>
        <p:spPr>
          <a:xfrm>
            <a:off x="747296" y="3819049"/>
            <a:ext cx="480417" cy="480417"/>
          </a:xfrm>
          <a:prstGeom prst="roundRect">
            <a:avLst>
              <a:gd name="adj" fmla="val 18668"/>
            </a:avLst>
          </a:prstGeom>
          <a:solidFill>
            <a:srgbClr val="F0D4F7"/>
          </a:solidFill>
          <a:ln w="7620">
            <a:solidFill>
              <a:srgbClr val="D6BADD"/>
            </a:solidFill>
            <a:prstDash val="solid"/>
          </a:ln>
        </p:spPr>
        <p:txBody>
          <a:bodyPr/>
          <a:lstStyle/>
          <a:p>
            <a:endParaRPr lang="en-PL"/>
          </a:p>
        </p:txBody>
      </p:sp>
      <p:sp>
        <p:nvSpPr>
          <p:cNvPr id="11" name="Text 9"/>
          <p:cNvSpPr/>
          <p:nvPr/>
        </p:nvSpPr>
        <p:spPr>
          <a:xfrm>
            <a:off x="836771" y="3870841"/>
            <a:ext cx="301347" cy="376714"/>
          </a:xfrm>
          <a:prstGeom prst="rect">
            <a:avLst/>
          </a:prstGeom>
          <a:noFill/>
          <a:ln/>
        </p:spPr>
        <p:txBody>
          <a:bodyPr wrap="none" lIns="0" tIns="0" rIns="0" bIns="0" rtlCol="0" anchor="t"/>
          <a:lstStyle/>
          <a:p>
            <a:pPr marL="0" indent="0" algn="ctr">
              <a:lnSpc>
                <a:spcPts val="2350"/>
              </a:lnSpc>
              <a:buNone/>
            </a:pPr>
            <a:r>
              <a:rPr lang="en-US" sz="2350" dirty="0">
                <a:solidFill>
                  <a:srgbClr val="272525"/>
                </a:solidFill>
                <a:latin typeface="Source Serif Pro Semi Bold" pitchFamily="34" charset="0"/>
                <a:ea typeface="Source Serif Pro Semi Bold" pitchFamily="34" charset="-122"/>
                <a:cs typeface="Source Serif Pro Semi Bold" pitchFamily="34" charset="-120"/>
              </a:rPr>
              <a:t>2</a:t>
            </a:r>
            <a:endParaRPr lang="en-US" sz="2350" dirty="0"/>
          </a:p>
        </p:txBody>
      </p:sp>
      <p:sp>
        <p:nvSpPr>
          <p:cNvPr id="12" name="Text 10"/>
          <p:cNvSpPr/>
          <p:nvPr/>
        </p:nvSpPr>
        <p:spPr>
          <a:xfrm>
            <a:off x="2055257" y="3892391"/>
            <a:ext cx="2561511" cy="313968"/>
          </a:xfrm>
          <a:prstGeom prst="rect">
            <a:avLst/>
          </a:prstGeom>
          <a:noFill/>
          <a:ln/>
        </p:spPr>
        <p:txBody>
          <a:bodyPr wrap="none" lIns="0" tIns="0" rIns="0" bIns="0" rtlCol="0" anchor="t"/>
          <a:lstStyle/>
          <a:p>
            <a:pPr marL="0" indent="0" algn="l">
              <a:lnSpc>
                <a:spcPts val="2450"/>
              </a:lnSpc>
              <a:buNone/>
            </a:pPr>
            <a:r>
              <a:rPr lang="en-US" sz="1950" dirty="0">
                <a:solidFill>
                  <a:srgbClr val="272525"/>
                </a:solidFill>
                <a:latin typeface="Source Serif Pro Semi Bold" pitchFamily="34" charset="0"/>
                <a:ea typeface="Source Serif Pro Semi Bold" pitchFamily="34" charset="-122"/>
                <a:cs typeface="Source Serif Pro Semi Bold" pitchFamily="34" charset="-120"/>
              </a:rPr>
              <a:t>Transcription Pipeline</a:t>
            </a:r>
            <a:endParaRPr lang="en-US" sz="1950" dirty="0"/>
          </a:p>
        </p:txBody>
      </p:sp>
      <p:sp>
        <p:nvSpPr>
          <p:cNvPr id="13" name="Text 11"/>
          <p:cNvSpPr/>
          <p:nvPr/>
        </p:nvSpPr>
        <p:spPr>
          <a:xfrm>
            <a:off x="2055257" y="4334470"/>
            <a:ext cx="11827788" cy="1024414"/>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Pro" pitchFamily="34" charset="0"/>
                <a:ea typeface="Source Sans Pro" pitchFamily="34" charset="-122"/>
                <a:cs typeface="Source Sans Pro" pitchFamily="34" charset="-120"/>
              </a:rPr>
              <a:t>Built using AzureML pipelines integrating WhisperX for speech-to-text transcription combined with PyAnnote for speaker diarization. This advanced pipeline processes audio streams to generate clean transcriptions while distinguishing between different speakers, enhancing clarity and usability of the transcribed data.</a:t>
            </a:r>
            <a:endParaRPr lang="en-US" sz="1650" dirty="0"/>
          </a:p>
        </p:txBody>
      </p:sp>
      <p:sp>
        <p:nvSpPr>
          <p:cNvPr id="14" name="Shape 12"/>
          <p:cNvSpPr/>
          <p:nvPr/>
        </p:nvSpPr>
        <p:spPr>
          <a:xfrm>
            <a:off x="1197233" y="6010751"/>
            <a:ext cx="640556" cy="30480"/>
          </a:xfrm>
          <a:prstGeom prst="roundRect">
            <a:avLst>
              <a:gd name="adj" fmla="val 294242"/>
            </a:avLst>
          </a:prstGeom>
          <a:solidFill>
            <a:srgbClr val="D6BADD"/>
          </a:solidFill>
          <a:ln/>
        </p:spPr>
        <p:txBody>
          <a:bodyPr/>
          <a:lstStyle/>
          <a:p>
            <a:endParaRPr lang="en-PL"/>
          </a:p>
        </p:txBody>
      </p:sp>
      <p:sp>
        <p:nvSpPr>
          <p:cNvPr id="15" name="Shape 13"/>
          <p:cNvSpPr/>
          <p:nvPr/>
        </p:nvSpPr>
        <p:spPr>
          <a:xfrm>
            <a:off x="747296" y="5785842"/>
            <a:ext cx="480417" cy="480417"/>
          </a:xfrm>
          <a:prstGeom prst="roundRect">
            <a:avLst>
              <a:gd name="adj" fmla="val 18668"/>
            </a:avLst>
          </a:prstGeom>
          <a:solidFill>
            <a:srgbClr val="F0D4F7"/>
          </a:solidFill>
          <a:ln w="7620">
            <a:solidFill>
              <a:srgbClr val="D6BADD"/>
            </a:solidFill>
            <a:prstDash val="solid"/>
          </a:ln>
        </p:spPr>
        <p:txBody>
          <a:bodyPr/>
          <a:lstStyle/>
          <a:p>
            <a:endParaRPr lang="en-PL"/>
          </a:p>
        </p:txBody>
      </p:sp>
      <p:sp>
        <p:nvSpPr>
          <p:cNvPr id="16" name="Text 14"/>
          <p:cNvSpPr/>
          <p:nvPr/>
        </p:nvSpPr>
        <p:spPr>
          <a:xfrm>
            <a:off x="836771" y="5837634"/>
            <a:ext cx="301347" cy="376714"/>
          </a:xfrm>
          <a:prstGeom prst="rect">
            <a:avLst/>
          </a:prstGeom>
          <a:noFill/>
          <a:ln/>
        </p:spPr>
        <p:txBody>
          <a:bodyPr wrap="none" lIns="0" tIns="0" rIns="0" bIns="0" rtlCol="0" anchor="t"/>
          <a:lstStyle/>
          <a:p>
            <a:pPr marL="0" indent="0" algn="ctr">
              <a:lnSpc>
                <a:spcPts val="2350"/>
              </a:lnSpc>
              <a:buNone/>
            </a:pPr>
            <a:r>
              <a:rPr lang="en-US" sz="2350" dirty="0">
                <a:solidFill>
                  <a:srgbClr val="272525"/>
                </a:solidFill>
                <a:latin typeface="Source Serif Pro Semi Bold" pitchFamily="34" charset="0"/>
                <a:ea typeface="Source Serif Pro Semi Bold" pitchFamily="34" charset="-122"/>
                <a:cs typeface="Source Serif Pro Semi Bold" pitchFamily="34" charset="-120"/>
              </a:rPr>
              <a:t>3</a:t>
            </a:r>
            <a:endParaRPr lang="en-US" sz="2350" dirty="0"/>
          </a:p>
        </p:txBody>
      </p:sp>
      <p:sp>
        <p:nvSpPr>
          <p:cNvPr id="17" name="Text 15"/>
          <p:cNvSpPr/>
          <p:nvPr/>
        </p:nvSpPr>
        <p:spPr>
          <a:xfrm>
            <a:off x="2055257" y="5859185"/>
            <a:ext cx="2512100" cy="313968"/>
          </a:xfrm>
          <a:prstGeom prst="rect">
            <a:avLst/>
          </a:prstGeom>
          <a:noFill/>
          <a:ln/>
        </p:spPr>
        <p:txBody>
          <a:bodyPr wrap="none" lIns="0" tIns="0" rIns="0" bIns="0" rtlCol="0" anchor="t"/>
          <a:lstStyle/>
          <a:p>
            <a:pPr marL="0" indent="0" algn="l">
              <a:lnSpc>
                <a:spcPts val="2450"/>
              </a:lnSpc>
              <a:buNone/>
            </a:pPr>
            <a:r>
              <a:rPr lang="en-US" sz="1950" dirty="0">
                <a:solidFill>
                  <a:srgbClr val="272525"/>
                </a:solidFill>
                <a:latin typeface="Source Serif Pro Semi Bold" pitchFamily="34" charset="0"/>
                <a:ea typeface="Source Serif Pro Semi Bold" pitchFamily="34" charset="-122"/>
                <a:cs typeface="Source Serif Pro Semi Bold" pitchFamily="34" charset="-120"/>
              </a:rPr>
              <a:t>Translation</a:t>
            </a:r>
            <a:endParaRPr lang="en-US" sz="1950" dirty="0"/>
          </a:p>
        </p:txBody>
      </p:sp>
      <p:sp>
        <p:nvSpPr>
          <p:cNvPr id="18" name="Text 16"/>
          <p:cNvSpPr/>
          <p:nvPr/>
        </p:nvSpPr>
        <p:spPr>
          <a:xfrm>
            <a:off x="2055257" y="6301264"/>
            <a:ext cx="11827788" cy="1024414"/>
          </a:xfrm>
          <a:prstGeom prst="rect">
            <a:avLst/>
          </a:prstGeom>
          <a:noFill/>
          <a:ln/>
        </p:spPr>
        <p:txBody>
          <a:bodyPr wrap="square" lIns="0" tIns="0" rIns="0" bIns="0" rtlCol="0" anchor="t"/>
          <a:lstStyle/>
          <a:p>
            <a:pPr marL="0" indent="0" algn="l">
              <a:lnSpc>
                <a:spcPts val="2650"/>
              </a:lnSpc>
              <a:buNone/>
            </a:pPr>
            <a:r>
              <a:rPr lang="en-US" sz="1650" dirty="0">
                <a:solidFill>
                  <a:srgbClr val="272525"/>
                </a:solidFill>
                <a:latin typeface="Source Sans Pro" pitchFamily="34" charset="0"/>
                <a:ea typeface="Source Sans Pro" pitchFamily="34" charset="-122"/>
                <a:cs typeface="Source Sans Pro" pitchFamily="34" charset="-120"/>
              </a:rPr>
              <a:t>Employs automated English translation powered by the ChatGPT API, enhanced with prompt engineering techniques to maintain context and translation accuracy. This module supports seamless multilingual communication by providing real-time, high-quality translations directly integrated into the transcription flow.</a:t>
            </a:r>
            <a:endParaRPr lang="en-US" sz="1650" dirty="0"/>
          </a:p>
        </p:txBody>
      </p:sp>
      <p:sp>
        <p:nvSpPr>
          <p:cNvPr id="19" name="TextBox 18">
            <a:extLst>
              <a:ext uri="{FF2B5EF4-FFF2-40B4-BE49-F238E27FC236}">
                <a16:creationId xmlns:a16="http://schemas.microsoft.com/office/drawing/2014/main" id="{EAABFA2A-87F3-1F69-C892-321AE6E5A391}"/>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965597"/>
            <a:ext cx="11199138"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Time Series Forecasting &amp; Automation | Jera</a:t>
            </a:r>
            <a:endParaRPr lang="en-US" sz="4400" dirty="0"/>
          </a:p>
        </p:txBody>
      </p:sp>
      <p:pic>
        <p:nvPicPr>
          <p:cNvPr id="3" name="Image 0" descr="preencoded.png"/>
          <p:cNvPicPr>
            <a:picLocks noChangeAspect="1"/>
          </p:cNvPicPr>
          <p:nvPr/>
        </p:nvPicPr>
        <p:blipFill>
          <a:blip r:embed="rId3"/>
          <a:stretch>
            <a:fillRect/>
          </a:stretch>
        </p:blipFill>
        <p:spPr>
          <a:xfrm>
            <a:off x="837724" y="2148364"/>
            <a:ext cx="4318278" cy="957501"/>
          </a:xfrm>
          <a:prstGeom prst="rect">
            <a:avLst/>
          </a:prstGeom>
        </p:spPr>
      </p:pic>
      <p:sp>
        <p:nvSpPr>
          <p:cNvPr id="4" name="Text 1"/>
          <p:cNvSpPr/>
          <p:nvPr/>
        </p:nvSpPr>
        <p:spPr>
          <a:xfrm>
            <a:off x="1077039" y="346483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Forecasting Models</a:t>
            </a:r>
            <a:endParaRPr lang="en-US" sz="2200" dirty="0"/>
          </a:p>
        </p:txBody>
      </p:sp>
      <p:sp>
        <p:nvSpPr>
          <p:cNvPr id="5" name="Text 2"/>
          <p:cNvSpPr/>
          <p:nvPr/>
        </p:nvSpPr>
        <p:spPr>
          <a:xfrm>
            <a:off x="1077039" y="3960376"/>
            <a:ext cx="3839647" cy="3064193"/>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Developed sophisticated models predicting anomalies and electricity consumption by integrating weather data, historical usage patterns, and external factors. These models leverage machine learning techniques to improve accuracy and robustness over traditional statistical approaches.</a:t>
            </a:r>
            <a:endParaRPr lang="en-US" sz="1850" dirty="0"/>
          </a:p>
        </p:txBody>
      </p:sp>
      <p:pic>
        <p:nvPicPr>
          <p:cNvPr id="6" name="Image 1" descr="preencoded.png"/>
          <p:cNvPicPr>
            <a:picLocks noChangeAspect="1"/>
          </p:cNvPicPr>
          <p:nvPr/>
        </p:nvPicPr>
        <p:blipFill>
          <a:blip r:embed="rId4"/>
          <a:stretch>
            <a:fillRect/>
          </a:stretch>
        </p:blipFill>
        <p:spPr>
          <a:xfrm>
            <a:off x="5156002" y="2148364"/>
            <a:ext cx="4318278" cy="957501"/>
          </a:xfrm>
          <a:prstGeom prst="rect">
            <a:avLst/>
          </a:prstGeom>
        </p:spPr>
      </p:pic>
      <p:sp>
        <p:nvSpPr>
          <p:cNvPr id="7" name="Text 3"/>
          <p:cNvSpPr/>
          <p:nvPr/>
        </p:nvSpPr>
        <p:spPr>
          <a:xfrm>
            <a:off x="5395317" y="346483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Automation</a:t>
            </a:r>
            <a:endParaRPr lang="en-US" sz="2200" dirty="0"/>
          </a:p>
        </p:txBody>
      </p:sp>
      <p:sp>
        <p:nvSpPr>
          <p:cNvPr id="8" name="Text 4"/>
          <p:cNvSpPr/>
          <p:nvPr/>
        </p:nvSpPr>
        <p:spPr>
          <a:xfrm>
            <a:off x="5395317" y="3960376"/>
            <a:ext cx="3839647" cy="3064193"/>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Built automated Kubeflow pipelines that streamline data collection, model training, real-time serving, and scheduled retraining. This system reduces manual intervention, accelerates model updates, and ensures continuous delivery of reliable forecasts.</a:t>
            </a:r>
            <a:endParaRPr lang="en-US" sz="1850" dirty="0"/>
          </a:p>
        </p:txBody>
      </p:sp>
      <p:pic>
        <p:nvPicPr>
          <p:cNvPr id="9" name="Image 2" descr="preencoded.png"/>
          <p:cNvPicPr>
            <a:picLocks noChangeAspect="1"/>
          </p:cNvPicPr>
          <p:nvPr/>
        </p:nvPicPr>
        <p:blipFill>
          <a:blip r:embed="rId5"/>
          <a:stretch>
            <a:fillRect/>
          </a:stretch>
        </p:blipFill>
        <p:spPr>
          <a:xfrm>
            <a:off x="9474279" y="2148364"/>
            <a:ext cx="4318278" cy="957501"/>
          </a:xfrm>
          <a:prstGeom prst="rect">
            <a:avLst/>
          </a:prstGeom>
        </p:spPr>
      </p:pic>
      <p:sp>
        <p:nvSpPr>
          <p:cNvPr id="10" name="Text 5"/>
          <p:cNvSpPr/>
          <p:nvPr/>
        </p:nvSpPr>
        <p:spPr>
          <a:xfrm>
            <a:off x="9713595" y="346483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Outcome</a:t>
            </a:r>
            <a:endParaRPr lang="en-US" sz="2200" dirty="0"/>
          </a:p>
        </p:txBody>
      </p:sp>
      <p:sp>
        <p:nvSpPr>
          <p:cNvPr id="11" name="Text 6"/>
          <p:cNvSpPr/>
          <p:nvPr/>
        </p:nvSpPr>
        <p:spPr>
          <a:xfrm>
            <a:off x="9713595" y="3960376"/>
            <a:ext cx="3839647" cy="3064193"/>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The implementation of these forecasting models and automation pipelines enabled a 20% increase in economic efficiency for electricity generation. This improvement helps optimize resource allocation, reduce operational costs, and support greener energy management.</a:t>
            </a:r>
            <a:endParaRPr lang="en-US" sz="1850" dirty="0"/>
          </a:p>
        </p:txBody>
      </p:sp>
      <p:sp>
        <p:nvSpPr>
          <p:cNvPr id="12" name="TextBox 11">
            <a:extLst>
              <a:ext uri="{FF2B5EF4-FFF2-40B4-BE49-F238E27FC236}">
                <a16:creationId xmlns:a16="http://schemas.microsoft.com/office/drawing/2014/main" id="{27F79B66-0002-27AF-6507-125F84511024}"/>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730568"/>
            <a:ext cx="8887420"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Ticket Classification NLP | Skanska</a:t>
            </a:r>
            <a:endParaRPr lang="en-US" sz="4400" dirty="0"/>
          </a:p>
        </p:txBody>
      </p:sp>
      <p:sp>
        <p:nvSpPr>
          <p:cNvPr id="3" name="Shape 1"/>
          <p:cNvSpPr/>
          <p:nvPr/>
        </p:nvSpPr>
        <p:spPr>
          <a:xfrm>
            <a:off x="837724" y="1913334"/>
            <a:ext cx="4158734" cy="5585698"/>
          </a:xfrm>
          <a:prstGeom prst="roundRect">
            <a:avLst>
              <a:gd name="adj" fmla="val 2418"/>
            </a:avLst>
          </a:prstGeom>
          <a:solidFill>
            <a:srgbClr val="F0D4F7"/>
          </a:solidFill>
          <a:ln w="7620">
            <a:solidFill>
              <a:srgbClr val="D6BADD"/>
            </a:solidFill>
            <a:prstDash val="solid"/>
          </a:ln>
        </p:spPr>
        <p:txBody>
          <a:bodyPr/>
          <a:lstStyle/>
          <a:p>
            <a:endParaRPr lang="en-PL"/>
          </a:p>
        </p:txBody>
      </p:sp>
      <p:sp>
        <p:nvSpPr>
          <p:cNvPr id="4" name="Text 2"/>
          <p:cNvSpPr/>
          <p:nvPr/>
        </p:nvSpPr>
        <p:spPr>
          <a:xfrm>
            <a:off x="1084659" y="216027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Challenge</a:t>
            </a:r>
            <a:endParaRPr lang="en-US" sz="2200" dirty="0"/>
          </a:p>
        </p:txBody>
      </p:sp>
      <p:sp>
        <p:nvSpPr>
          <p:cNvPr id="5" name="Text 3"/>
          <p:cNvSpPr/>
          <p:nvPr/>
        </p:nvSpPr>
        <p:spPr>
          <a:xfrm>
            <a:off x="1084659" y="2655808"/>
            <a:ext cx="3664863" cy="3447217"/>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Skanska faced the challenge of manually classifying large volumes of service tickets, which was prone to human error and caused delays in ticket resolution. The goal was to automate the ticket classification process to improve accuracy, reduce operational costs, and accelerate service response times.</a:t>
            </a:r>
            <a:endParaRPr lang="en-US" sz="1850" dirty="0"/>
          </a:p>
        </p:txBody>
      </p:sp>
      <p:sp>
        <p:nvSpPr>
          <p:cNvPr id="6" name="Shape 4"/>
          <p:cNvSpPr/>
          <p:nvPr/>
        </p:nvSpPr>
        <p:spPr>
          <a:xfrm>
            <a:off x="5235773" y="1913334"/>
            <a:ext cx="4158734" cy="5585698"/>
          </a:xfrm>
          <a:prstGeom prst="roundRect">
            <a:avLst>
              <a:gd name="adj" fmla="val 2418"/>
            </a:avLst>
          </a:prstGeom>
          <a:solidFill>
            <a:srgbClr val="F0D4F7"/>
          </a:solidFill>
          <a:ln w="7620">
            <a:solidFill>
              <a:srgbClr val="D6BADD"/>
            </a:solidFill>
            <a:prstDash val="solid"/>
          </a:ln>
        </p:spPr>
        <p:txBody>
          <a:bodyPr/>
          <a:lstStyle/>
          <a:p>
            <a:endParaRPr lang="en-PL"/>
          </a:p>
        </p:txBody>
      </p:sp>
      <p:sp>
        <p:nvSpPr>
          <p:cNvPr id="7" name="Text 5"/>
          <p:cNvSpPr/>
          <p:nvPr/>
        </p:nvSpPr>
        <p:spPr>
          <a:xfrm>
            <a:off x="5482709" y="216027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Solution</a:t>
            </a:r>
            <a:endParaRPr lang="en-US" sz="2200" dirty="0"/>
          </a:p>
        </p:txBody>
      </p:sp>
      <p:sp>
        <p:nvSpPr>
          <p:cNvPr id="8" name="Text 6"/>
          <p:cNvSpPr/>
          <p:nvPr/>
        </p:nvSpPr>
        <p:spPr>
          <a:xfrm>
            <a:off x="5482709" y="2655808"/>
            <a:ext cx="3664863" cy="4596289"/>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We developed and deployed advanced natural language processing (NLP) models that integrate seamlessly with the ServiceNow API and leverage Azure Functions for serverless execution. This architecture allows real-time, scalable classification of incoming tickets by analyzing ticket content and automatically routing them to the appropriate teams without manual intervention.</a:t>
            </a:r>
            <a:endParaRPr lang="en-US" sz="1850" dirty="0"/>
          </a:p>
        </p:txBody>
      </p:sp>
      <p:sp>
        <p:nvSpPr>
          <p:cNvPr id="9" name="Shape 7"/>
          <p:cNvSpPr/>
          <p:nvPr/>
        </p:nvSpPr>
        <p:spPr>
          <a:xfrm>
            <a:off x="9633823" y="1913334"/>
            <a:ext cx="4158734" cy="5585698"/>
          </a:xfrm>
          <a:prstGeom prst="roundRect">
            <a:avLst>
              <a:gd name="adj" fmla="val 2418"/>
            </a:avLst>
          </a:prstGeom>
          <a:solidFill>
            <a:srgbClr val="F0D4F7"/>
          </a:solidFill>
          <a:ln w="7620">
            <a:solidFill>
              <a:srgbClr val="D6BADD"/>
            </a:solidFill>
            <a:prstDash val="solid"/>
          </a:ln>
        </p:spPr>
        <p:txBody>
          <a:bodyPr/>
          <a:lstStyle/>
          <a:p>
            <a:endParaRPr lang="en-PL"/>
          </a:p>
        </p:txBody>
      </p:sp>
      <p:sp>
        <p:nvSpPr>
          <p:cNvPr id="10" name="Text 8"/>
          <p:cNvSpPr/>
          <p:nvPr/>
        </p:nvSpPr>
        <p:spPr>
          <a:xfrm>
            <a:off x="9880759" y="216027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Result</a:t>
            </a:r>
            <a:endParaRPr lang="en-US" sz="2200" dirty="0"/>
          </a:p>
        </p:txBody>
      </p:sp>
      <p:sp>
        <p:nvSpPr>
          <p:cNvPr id="11" name="Text 9"/>
          <p:cNvSpPr/>
          <p:nvPr/>
        </p:nvSpPr>
        <p:spPr>
          <a:xfrm>
            <a:off x="9880759" y="2655808"/>
            <a:ext cx="3664863" cy="3830241"/>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The automated NLP classification system successfully eliminated approximately 90% of human errors and boosted ticket processing speeds by 50%. These improvements resulted in enhanced operational efficiency, faster resolution times, and improved customer satisfaction for Skanska’s support services.</a:t>
            </a:r>
            <a:endParaRPr lang="en-US" sz="1850" dirty="0"/>
          </a:p>
        </p:txBody>
      </p:sp>
      <p:sp>
        <p:nvSpPr>
          <p:cNvPr id="12" name="TextBox 11">
            <a:extLst>
              <a:ext uri="{FF2B5EF4-FFF2-40B4-BE49-F238E27FC236}">
                <a16:creationId xmlns:a16="http://schemas.microsoft.com/office/drawing/2014/main" id="{F0781A98-99CE-0D0A-564D-D27A08979E7F}"/>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992160"/>
          </a:xfrm>
          <a:prstGeom prst="rect">
            <a:avLst/>
          </a:prstGeom>
        </p:spPr>
      </p:pic>
      <p:sp>
        <p:nvSpPr>
          <p:cNvPr id="3" name="Text 0"/>
          <p:cNvSpPr/>
          <p:nvPr/>
        </p:nvSpPr>
        <p:spPr>
          <a:xfrm>
            <a:off x="837724" y="4010025"/>
            <a:ext cx="6480453" cy="704017"/>
          </a:xfrm>
          <a:prstGeom prst="rect">
            <a:avLst/>
          </a:prstGeom>
          <a:noFill/>
          <a:ln/>
        </p:spPr>
        <p:txBody>
          <a:bodyPr wrap="none" lIns="0" tIns="0" rIns="0" bIns="0" rtlCol="0" anchor="t"/>
          <a:lstStyle/>
          <a:p>
            <a:pPr marL="0" indent="0" algn="l">
              <a:lnSpc>
                <a:spcPts val="5500"/>
              </a:lnSpc>
              <a:buNone/>
            </a:pPr>
            <a:r>
              <a:rPr lang="en-US" sz="4400" dirty="0">
                <a:solidFill>
                  <a:srgbClr val="000000"/>
                </a:solidFill>
                <a:latin typeface="Source Serif Pro Semi Bold" pitchFamily="34" charset="0"/>
                <a:ea typeface="Source Serif Pro Semi Bold" pitchFamily="34" charset="-122"/>
                <a:cs typeface="Source Serif Pro Semi Bold" pitchFamily="34" charset="-120"/>
              </a:rPr>
              <a:t>Key Skills &amp; Technologies</a:t>
            </a:r>
            <a:endParaRPr lang="en-US" sz="4400" dirty="0"/>
          </a:p>
        </p:txBody>
      </p:sp>
      <p:pic>
        <p:nvPicPr>
          <p:cNvPr id="4" name="Image 1" descr="preencoded.png"/>
          <p:cNvPicPr>
            <a:picLocks noChangeAspect="1"/>
          </p:cNvPicPr>
          <p:nvPr/>
        </p:nvPicPr>
        <p:blipFill>
          <a:blip r:embed="rId4"/>
          <a:stretch>
            <a:fillRect/>
          </a:stretch>
        </p:blipFill>
        <p:spPr>
          <a:xfrm>
            <a:off x="837724" y="5114806"/>
            <a:ext cx="598408" cy="598408"/>
          </a:xfrm>
          <a:prstGeom prst="rect">
            <a:avLst/>
          </a:prstGeom>
        </p:spPr>
      </p:pic>
      <p:sp>
        <p:nvSpPr>
          <p:cNvPr id="5" name="Text 1"/>
          <p:cNvSpPr/>
          <p:nvPr/>
        </p:nvSpPr>
        <p:spPr>
          <a:xfrm>
            <a:off x="1675448" y="5215057"/>
            <a:ext cx="2176582"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Programming</a:t>
            </a:r>
            <a:endParaRPr lang="en-US" sz="2200" dirty="0"/>
          </a:p>
        </p:txBody>
      </p:sp>
      <p:sp>
        <p:nvSpPr>
          <p:cNvPr id="6" name="Text 2"/>
          <p:cNvSpPr/>
          <p:nvPr/>
        </p:nvSpPr>
        <p:spPr>
          <a:xfrm>
            <a:off x="1675448" y="5710595"/>
            <a:ext cx="2176582" cy="766048"/>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Python, SQL, Azure, AWS, GCP</a:t>
            </a:r>
            <a:endParaRPr lang="en-US" sz="1850" dirty="0"/>
          </a:p>
        </p:txBody>
      </p:sp>
      <p:pic>
        <p:nvPicPr>
          <p:cNvPr id="7" name="Image 2" descr="preencoded.png"/>
          <p:cNvPicPr>
            <a:picLocks noChangeAspect="1"/>
          </p:cNvPicPr>
          <p:nvPr/>
        </p:nvPicPr>
        <p:blipFill>
          <a:blip r:embed="rId5"/>
          <a:stretch>
            <a:fillRect/>
          </a:stretch>
        </p:blipFill>
        <p:spPr>
          <a:xfrm>
            <a:off x="4151233" y="5114806"/>
            <a:ext cx="598408" cy="598408"/>
          </a:xfrm>
          <a:prstGeom prst="rect">
            <a:avLst/>
          </a:prstGeom>
        </p:spPr>
      </p:pic>
      <p:sp>
        <p:nvSpPr>
          <p:cNvPr id="8" name="Text 3"/>
          <p:cNvSpPr/>
          <p:nvPr/>
        </p:nvSpPr>
        <p:spPr>
          <a:xfrm>
            <a:off x="4988957" y="5215057"/>
            <a:ext cx="2176582" cy="703898"/>
          </a:xfrm>
          <a:prstGeom prst="rect">
            <a:avLst/>
          </a:prstGeom>
          <a:noFill/>
          <a:ln/>
        </p:spPr>
        <p:txBody>
          <a:bodyPr wrap="squar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Core Competencies</a:t>
            </a:r>
            <a:endParaRPr lang="en-US" sz="2200" dirty="0"/>
          </a:p>
        </p:txBody>
      </p:sp>
      <p:sp>
        <p:nvSpPr>
          <p:cNvPr id="9" name="Text 4"/>
          <p:cNvSpPr/>
          <p:nvPr/>
        </p:nvSpPr>
        <p:spPr>
          <a:xfrm>
            <a:off x="4988957" y="6062543"/>
            <a:ext cx="2176582"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Computer Vision, NLP, Time Series, Speech Synthesis</a:t>
            </a:r>
            <a:endParaRPr lang="en-US" sz="1850" dirty="0"/>
          </a:p>
        </p:txBody>
      </p:sp>
      <p:pic>
        <p:nvPicPr>
          <p:cNvPr id="10" name="Image 3" descr="preencoded.png"/>
          <p:cNvPicPr>
            <a:picLocks noChangeAspect="1"/>
          </p:cNvPicPr>
          <p:nvPr/>
        </p:nvPicPr>
        <p:blipFill>
          <a:blip r:embed="rId6"/>
          <a:stretch>
            <a:fillRect/>
          </a:stretch>
        </p:blipFill>
        <p:spPr>
          <a:xfrm>
            <a:off x="7464743" y="5114806"/>
            <a:ext cx="598408" cy="598408"/>
          </a:xfrm>
          <a:prstGeom prst="rect">
            <a:avLst/>
          </a:prstGeom>
        </p:spPr>
      </p:pic>
      <p:sp>
        <p:nvSpPr>
          <p:cNvPr id="11" name="Text 5"/>
          <p:cNvSpPr/>
          <p:nvPr/>
        </p:nvSpPr>
        <p:spPr>
          <a:xfrm>
            <a:off x="8302466" y="5215057"/>
            <a:ext cx="2176582"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Databases</a:t>
            </a:r>
            <a:endParaRPr lang="en-US" sz="2200" dirty="0"/>
          </a:p>
        </p:txBody>
      </p:sp>
      <p:sp>
        <p:nvSpPr>
          <p:cNvPr id="12" name="Text 6"/>
          <p:cNvSpPr/>
          <p:nvPr/>
        </p:nvSpPr>
        <p:spPr>
          <a:xfrm>
            <a:off x="8302466" y="5710595"/>
            <a:ext cx="2176582"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MongoDB, Azure Cosmos DB, Milvus, Redis</a:t>
            </a:r>
            <a:endParaRPr lang="en-US" sz="1850" dirty="0"/>
          </a:p>
        </p:txBody>
      </p:sp>
      <p:pic>
        <p:nvPicPr>
          <p:cNvPr id="13" name="Image 4" descr="preencoded.png"/>
          <p:cNvPicPr>
            <a:picLocks noChangeAspect="1"/>
          </p:cNvPicPr>
          <p:nvPr/>
        </p:nvPicPr>
        <p:blipFill>
          <a:blip r:embed="rId7"/>
          <a:stretch>
            <a:fillRect/>
          </a:stretch>
        </p:blipFill>
        <p:spPr>
          <a:xfrm>
            <a:off x="10778252" y="5114806"/>
            <a:ext cx="598408" cy="598408"/>
          </a:xfrm>
          <a:prstGeom prst="rect">
            <a:avLst/>
          </a:prstGeom>
        </p:spPr>
      </p:pic>
      <p:sp>
        <p:nvSpPr>
          <p:cNvPr id="14" name="Text 7"/>
          <p:cNvSpPr/>
          <p:nvPr/>
        </p:nvSpPr>
        <p:spPr>
          <a:xfrm>
            <a:off x="11615976" y="5215057"/>
            <a:ext cx="2176701" cy="351949"/>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Source Serif Pro Semi Bold" pitchFamily="34" charset="0"/>
                <a:ea typeface="Source Serif Pro Semi Bold" pitchFamily="34" charset="-122"/>
                <a:cs typeface="Source Serif Pro Semi Bold" pitchFamily="34" charset="-120"/>
              </a:rPr>
              <a:t>Deployment</a:t>
            </a:r>
            <a:endParaRPr lang="en-US" sz="2200" dirty="0"/>
          </a:p>
        </p:txBody>
      </p:sp>
      <p:sp>
        <p:nvSpPr>
          <p:cNvPr id="15" name="Text 8"/>
          <p:cNvSpPr/>
          <p:nvPr/>
        </p:nvSpPr>
        <p:spPr>
          <a:xfrm>
            <a:off x="11615976" y="5710595"/>
            <a:ext cx="2176701" cy="1149072"/>
          </a:xfrm>
          <a:prstGeom prst="rect">
            <a:avLst/>
          </a:prstGeom>
          <a:noFill/>
          <a:ln/>
        </p:spPr>
        <p:txBody>
          <a:bodyPr wrap="square" lIns="0" tIns="0" rIns="0" bIns="0" rtlCol="0" anchor="t"/>
          <a:lstStyle/>
          <a:p>
            <a:pPr marL="0" indent="0" algn="l">
              <a:lnSpc>
                <a:spcPts val="3000"/>
              </a:lnSpc>
              <a:buNone/>
            </a:pPr>
            <a:r>
              <a:rPr lang="en-US" sz="1850" dirty="0">
                <a:solidFill>
                  <a:srgbClr val="272525"/>
                </a:solidFill>
                <a:latin typeface="Source Sans Pro" pitchFamily="34" charset="0"/>
                <a:ea typeface="Source Sans Pro" pitchFamily="34" charset="-122"/>
                <a:cs typeface="Source Sans Pro" pitchFamily="34" charset="-120"/>
              </a:rPr>
              <a:t>Kubernetes, Docker, Kubeflow, Azure App Services</a:t>
            </a:r>
            <a:endParaRPr lang="en-US" sz="1850" dirty="0"/>
          </a:p>
        </p:txBody>
      </p:sp>
      <p:sp>
        <p:nvSpPr>
          <p:cNvPr id="16" name="TextBox 15">
            <a:extLst>
              <a:ext uri="{FF2B5EF4-FFF2-40B4-BE49-F238E27FC236}">
                <a16:creationId xmlns:a16="http://schemas.microsoft.com/office/drawing/2014/main" id="{AF830AC1-1F3E-634C-9EA7-2AD7649ECB11}"/>
              </a:ext>
            </a:extLst>
          </p:cNvPr>
          <p:cNvSpPr txBox="1"/>
          <p:nvPr/>
        </p:nvSpPr>
        <p:spPr>
          <a:xfrm>
            <a:off x="12757355" y="7463550"/>
            <a:ext cx="1769805" cy="766049"/>
          </a:xfrm>
          <a:prstGeom prst="rect">
            <a:avLst/>
          </a:prstGeom>
          <a:solidFill>
            <a:srgbClr val="FFFDFF"/>
          </a:solidFill>
        </p:spPr>
        <p:txBody>
          <a:bodyPr wrap="square" rtlCol="0">
            <a:spAutoFit/>
          </a:bodyPr>
          <a:lstStyle/>
          <a:p>
            <a:endParaRPr lang="en-PL"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e74bd3a-bf44-4e20-a547-0137585c01f4}" enabled="1" method="Standard" siteId="{0a4d4529-3bd8-41d2-bdbe-aa4634a1752b}" contentBits="1" removed="0"/>
</clbl:labelList>
</file>

<file path=docProps/app.xml><?xml version="1.0" encoding="utf-8"?>
<Properties xmlns="http://schemas.openxmlformats.org/officeDocument/2006/extended-properties" xmlns:vt="http://schemas.openxmlformats.org/officeDocument/2006/docPropsVTypes">
  <TotalTime>0</TotalTime>
  <Words>1473</Words>
  <Application>Microsoft Macintosh PowerPoint</Application>
  <PresentationFormat>Custom</PresentationFormat>
  <Paragraphs>104</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Source Sans Pro</vt:lpstr>
      <vt:lpstr>Source Sans Pro Bold</vt:lpstr>
      <vt:lpstr>Source Serif Pro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Pavlo Holubchykov</cp:lastModifiedBy>
  <cp:revision>2</cp:revision>
  <dcterms:created xsi:type="dcterms:W3CDTF">2025-05-06T14:44:51Z</dcterms:created>
  <dcterms:modified xsi:type="dcterms:W3CDTF">2025-05-06T14:47:51Z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Theme:3</vt:lpwstr>
  </property>
  <property fmtid="{D5CDD505-2E9C-101B-9397-08002B2CF9AE}" pid="3" name="ClassificationContentMarkingHeaderText">
    <vt:lpwstr>Internal</vt:lpwstr>
  </property>
</Properties>
</file>